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各位领导、同事，大家好。今天的汇报主题是安全漏洞整改说明。</a:t>
            </a:r>
          </a:p>
          <a:p>
            <a:endParaRPr lang="zh-CN" dirty="0"/>
          </a:p>
          <a:p>
            <a:r>
              <a:rPr lang="zh-CN" dirty="0"/>
              <a:t>这份材料基于香港红队2026年Red Team评估结果，对三个面向外网的信息系统安全漏洞进行说明，并提出相应的整改方案。</a:t>
            </a:r>
          </a:p>
          <a:p>
            <a:endParaRPr lang="zh-CN" dirty="0"/>
          </a:p>
          <a:p>
            <a:r>
              <a:rPr lang="zh-CN" dirty="0"/>
              <a:t>要点：① 香港红队发现三类系统存在管理端口暴露风险 ② 已使用HTTPS加密传输 ③ 核心解决方案是VPN内网打通</a:t>
            </a:r>
          </a:p>
          <a:p>
            <a:r>
              <a:rPr lang="zh-CN" dirty="0"/>
              <a:t>时长：1分钟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首先，我们来看这三个系统的共性安全问题。</a:t>
            </a:r>
          </a:p>
          <a:p>
            <a:endParaRPr lang="zh-CN" dirty="0"/>
          </a:p>
          <a:p>
            <a:r>
              <a:rPr lang="zh-CN" dirty="0"/>
              <a:t>香港红队在对我们的互联网系统进行评估后发现，三个系统都存在同一类风险：管理员登录页面和管理端口暴露于公网。这三个系统均面向外网开放，无法通过IP限制来缩小访问范围，虽然传输层已使用HTTPS加密，但网络层的端口暴露仍然构成了严重的安全隐患。</a:t>
            </a:r>
          </a:p>
          <a:p>
            <a:endParaRPr lang="zh-CN" dirty="0"/>
          </a:p>
          <a:p>
            <a:r>
              <a:rPr lang="zh-CN" dirty="0"/>
              <a:t>具体来看，系统一 rsp.towngas.com.cn 暴露了3389、5985、5986三个管理端口；系统二 ecard.towngas.com.cn 暴露了3389端口；系统三 houtai.towngas.com.cn 的 /cmsLogin 管理登录路径直接暴露在公网上。</a:t>
            </a:r>
          </a:p>
          <a:p>
            <a:endParaRPr lang="zh-CN" dirty="0"/>
          </a:p>
          <a:p>
            <a:r>
              <a:rPr lang="zh-CN" dirty="0"/>
              <a:t>要点：① 三个系统共性问题：管理端口/登录页暴露公网 ② 无法IP限制是核心困难 ③ 已采用HTTPS和第三方测试作为基础防护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接下来我们逐一分析每个系统的漏洞和应对策略，首先是共享资源管理平台。</a:t>
            </a:r>
          </a:p>
          <a:p>
            <a:endParaRPr lang="zh-CN" dirty="0"/>
          </a:p>
          <a:p>
            <a:r>
              <a:rPr lang="zh-CN" dirty="0"/>
              <a:t>该系统暴露了三个高危管理端口：3389是Windows远程桌面协议，5985和5986是WinRM远程管理服务。攻击者可以针对这些端口进行暴力破解、漏洞利用和横向移动。临时应对措施是立即启用强密码策略，要求所有管理员账户开启双因素认证，防止凭证被暴力破解。</a:t>
            </a:r>
          </a:p>
          <a:p>
            <a:endParaRPr lang="zh-CN" dirty="0"/>
          </a:p>
          <a:p>
            <a:r>
              <a:rPr lang="zh-CN" dirty="0"/>
              <a:t>中期措施是在华为云安全组中配置精确的IP白名单，限制只有可信IP才能访问这三个管理端口。长期方案是通过华为云与港华内网的VPN隧道，彻底关闭所有公网管理端口，管理员统一从内网VPN访问。</a:t>
            </a:r>
          </a:p>
          <a:p>
            <a:endParaRPr lang="zh-CN" dirty="0"/>
          </a:p>
          <a:p>
            <a:r>
              <a:rPr lang="zh-CN" dirty="0"/>
              <a:t>要点：① 三个高危管理端口：3389/5985/5986 ② 临时→中期→长期三阶段策略 ③ VPN内网访问是根本解决方案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第二个系统是电子卡系统，同样存在3389端口暴露问题。</a:t>
            </a:r>
          </a:p>
          <a:p>
            <a:endParaRPr lang="zh-CN" dirty="0"/>
          </a:p>
          <a:p>
            <a:r>
              <a:rPr lang="zh-CN" dirty="0"/>
              <a:t>3389端口是Windows RDP远程桌面协议，这是攻击者最常利用的协议之一，历史上发生过大量通过RDP口令爆破导致服务器被勒索软件攻击的事件。临时应对是强制要求RDP账户使用强密码（长度不少于12位），并设置账户锁定阈值为5次登录失败。</a:t>
            </a:r>
          </a:p>
          <a:p>
            <a:endParaRPr lang="zh-CN" dirty="0"/>
          </a:p>
          <a:p>
            <a:r>
              <a:rPr lang="zh-CN" dirty="0"/>
              <a:t>中期措施是在华为云安全组中配置入站规则，彻底阻断所有来源IP对TCP 3389端口的访问。长期方案同样是华为云VPN打通后，将RDP服务完全迁移至内网隧道访问。</a:t>
            </a:r>
          </a:p>
          <a:p>
            <a:endParaRPr lang="zh-CN" dirty="0"/>
          </a:p>
          <a:p>
            <a:r>
              <a:rPr lang="zh-CN" dirty="0"/>
              <a:t>要点：① RDP 3389是最常被攻击的端口之一 ② 安全组规则是最快的止血措施 ③ VPN打通后彻底消除暴露面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第三个系统是后台管理系统，问题是管理登录页面直接暴露在公网。</a:t>
            </a:r>
          </a:p>
          <a:p>
            <a:endParaRPr lang="zh-CN" dirty="0"/>
          </a:p>
          <a:p>
            <a:r>
              <a:rPr lang="zh-CN" dirty="0"/>
              <a:t>攻击者可以直接访问 /cmsLogin 这个路径进入后台管理登录页面，即使该页面有登录保护，在缺乏强认证的情况下，仍然存在弱口令被破解的风险。临时措施是将管理路径改为随机化路径，降低被自动化扫描工具批量发现和攻击的概率。</a:t>
            </a:r>
          </a:p>
          <a:p>
            <a:endParaRPr lang="zh-CN" dirty="0"/>
          </a:p>
          <a:p>
            <a:r>
              <a:rPr lang="zh-CN" dirty="0"/>
              <a:t>中期措施是为所有管理后台账户强制启用双因素认证，即使密码泄露也能防止账户被接管。长期方案是通过VPN内网访问，将后台登录页面从公网完全移除。</a:t>
            </a:r>
          </a:p>
          <a:p>
            <a:endParaRPr lang="zh-CN" dirty="0"/>
          </a:p>
          <a:p>
            <a:r>
              <a:rPr lang="zh-CN" dirty="0"/>
              <a:t>要点：① /cmsLogin 路径直接暴露是核心问题 ② 路径随机化是临时遮蔽手段 ③ VPN内网化是治本措施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最后，我们来看整体解决方案和整改时间表。</a:t>
            </a:r>
          </a:p>
          <a:p>
            <a:endParaRPr lang="zh-CN" dirty="0"/>
          </a:p>
          <a:p>
            <a:r>
              <a:rPr lang="zh-CN" dirty="0"/>
              <a:t>三个系统暴露的共同根本原因，是管理端口与业务端口共用公网出口，缺乏分层防御架构。我们建议的核心方案是建立华为云与港华内网之间的VPN隧道，将所有管理访问迁移至内网VPN通道：关闭三个系统所有公网管理端口，保留公网业务访问，管理员统一通过VPN隧道进行管理操作，并结合MFA多因素认证，构建完整的零信任访问体系。</a:t>
            </a:r>
          </a:p>
          <a:p>
            <a:endParaRPr lang="zh-CN" dirty="0"/>
          </a:p>
          <a:p>
            <a:r>
              <a:rPr lang="zh-CN" dirty="0"/>
              <a:t>整改分四个阶段推进：立即处置（1周内）完成强密码和2FA启用；短期加固（2-4周）完成安全组收紧和MFA全覆盖；中期建设（1-3个月）完成华为云与港华内网VPN隧道打通；长期运营（持续）每半年进行一次红队评估，持续优化安全架构。</a:t>
            </a:r>
          </a:p>
          <a:p>
            <a:endParaRPr lang="zh-CN" dirty="0"/>
          </a:p>
          <a:p>
            <a:r>
              <a:rPr lang="zh-CN" dirty="0"/>
              <a:t>请各方确认整改时间节点，我们将在各阶段完成后提供进度更新报告。</a:t>
            </a:r>
          </a:p>
          <a:p>
            <a:endParaRPr lang="zh-CN" dirty="0"/>
          </a:p>
          <a:p>
            <a:r>
              <a:rPr lang="zh-CN" dirty="0"/>
              <a:t>要点：① VPN隧道打通是核心治本方案 ② 四阶段整改路线图：立即→短期→中期→长期 ③ 需要各方确认时间节点</a:t>
            </a:r>
          </a:p>
          <a:p>
            <a:r>
              <a:rPr lang="zh-CN" dirty="0"/>
              <a:t>时长：2分钟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57150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9334500" y="762000"/>
            <a:ext cx="2857500" cy="5334000"/>
          </a:xfrm>
          <a:prstGeom prst="rect">
            <a:avLst/>
          </a:prstGeom>
          <a:solidFill>
            <a:srgbClr val="F0F5FF"/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668000" y="381000"/>
            <a:ext cx="1524000" cy="1524000"/>
          </a:xfrm>
          <a:prstGeom prst="ellipse">
            <a:avLst/>
          </a:prstGeom>
          <a:solidFill>
            <a:srgbClr val="1A56DB">
              <a:alpha val="8000"/>
            </a:srgbClr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9334500" y="4572000"/>
            <a:ext cx="2286000" cy="2286000"/>
          </a:xfrm>
          <a:prstGeom prst="ellipse">
            <a:avLst/>
          </a:prstGeom>
          <a:solidFill>
            <a:srgbClr val="1A56DB">
              <a:alpha val="5000"/>
            </a:srgbClr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762000" y="2476500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19050" y="0"/>
                </a:moveTo>
                <a:lnTo>
                  <a:pt x="19050" y="0"/>
                </a:lnTo>
                <a:cubicBezTo>
                  <a:pt x="29571" y="0"/>
                  <a:pt x="38100" y="8529"/>
                  <a:pt x="38100" y="19050"/>
                </a:cubicBezTo>
                <a:lnTo>
                  <a:pt x="38100" y="742950"/>
                </a:lnTo>
                <a:cubicBezTo>
                  <a:pt x="38100" y="753471"/>
                  <a:pt x="29571" y="762000"/>
                  <a:pt x="19050" y="762000"/>
                </a:cubicBezTo>
                <a:lnTo>
                  <a:pt x="19050" y="762000"/>
                </a:lnTo>
                <a:cubicBezTo>
                  <a:pt x="8529" y="762000"/>
                  <a:pt x="0" y="753471"/>
                  <a:pt x="0" y="7429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1A56DB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762000" y="2095500"/>
            <a:ext cx="952500" cy="247650"/>
          </a:xfrm>
          <a:custGeom>
            <a:avLst/>
            <a:gdLst/>
            <a:ahLst/>
            <a:cxnLst/>
            <a:rect l="l" t="t" r="r" b="b"/>
            <a:pathLst>
              <a:path w="952500" h="247650">
                <a:moveTo>
                  <a:pt x="123825" y="0"/>
                </a:moveTo>
                <a:lnTo>
                  <a:pt x="828675" y="0"/>
                </a:lnTo>
                <a:cubicBezTo>
                  <a:pt x="897062" y="0"/>
                  <a:pt x="952500" y="55438"/>
                  <a:pt x="952500" y="123825"/>
                </a:cubicBezTo>
                <a:lnTo>
                  <a:pt x="952500" y="123825"/>
                </a:lnTo>
                <a:cubicBezTo>
                  <a:pt x="952500" y="192212"/>
                  <a:pt x="897062" y="247650"/>
                  <a:pt x="828675" y="247650"/>
                </a:cubicBezTo>
                <a:lnTo>
                  <a:pt x="123825" y="247650"/>
                </a:lnTo>
                <a:cubicBezTo>
                  <a:pt x="55438" y="247650"/>
                  <a:pt x="0" y="192212"/>
                  <a:pt x="0" y="123825"/>
                </a:cubicBezTo>
                <a:lnTo>
                  <a:pt x="0" y="123825"/>
                </a:lnTo>
                <a:cubicBezTo>
                  <a:pt x="0" y="55438"/>
                  <a:pt x="55438" y="0"/>
                  <a:pt x="123825" y="0"/>
                </a:cubicBezTo>
                <a:close/>
              </a:path>
            </a:pathLst>
          </a:custGeom>
          <a:solidFill>
            <a:srgbClr val="FEF2F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74741" y="2168366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安全整改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2470" y="2626995"/>
            <a:ext cx="2491359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安全漏洞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2470" y="3293745"/>
            <a:ext cx="2491359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9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整改说明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4855" y="4045268"/>
            <a:ext cx="311996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香港红队 · 2026 Red Team Finding</a:t>
            </a:r>
          </a:p>
        </p:txBody>
      </p:sp>
      <p:sp>
        <p:nvSpPr>
          <p:cNvPr id="14" name="Freeform 14"/>
          <p:cNvSpPr/>
          <p:nvPr/>
        </p:nvSpPr>
        <p:spPr>
          <a:xfrm>
            <a:off x="762000" y="4381500"/>
            <a:ext cx="571500" cy="28575"/>
          </a:xfrm>
          <a:custGeom>
            <a:avLst/>
            <a:gdLst/>
            <a:ahLst/>
            <a:cxnLst/>
            <a:rect l="l" t="t" r="r" b="b"/>
            <a:pathLst>
              <a:path w="571500" h="28575">
                <a:moveTo>
                  <a:pt x="14288" y="0"/>
                </a:moveTo>
                <a:lnTo>
                  <a:pt x="557212" y="0"/>
                </a:lnTo>
                <a:cubicBezTo>
                  <a:pt x="565103" y="0"/>
                  <a:pt x="571500" y="6397"/>
                  <a:pt x="571500" y="14288"/>
                </a:cubicBezTo>
                <a:lnTo>
                  <a:pt x="571500" y="14288"/>
                </a:lnTo>
                <a:cubicBezTo>
                  <a:pt x="571500" y="22178"/>
                  <a:pt x="565103" y="28575"/>
                  <a:pt x="5572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1A56DB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49618" y="5609749"/>
            <a:ext cx="130635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面向港华内外部沟通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9618" y="5876449"/>
            <a:ext cx="7011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2026年4月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95478" y="2619375"/>
            <a:ext cx="535543" cy="152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0" b="1" dirty="0">
                <a:solidFill>
                  <a:srgbClr val="1A56DB">
                    <a:alpha val="6000"/>
                  </a:srgbClr>
                </a:solidFill>
                <a:latin typeface="Arial"/>
                <a:ea typeface="Microsoft YaHei"/>
                <a:cs typeface="Arial"/>
              </a:rPr>
              <a:t>!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97490" y="39662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1A56DB">
                    <a:alpha val="50000"/>
                  </a:srgbClr>
                </a:solidFill>
                <a:latin typeface="Arial"/>
                <a:ea typeface="Microsoft YaHei"/>
                <a:cs typeface="Arial"/>
              </a:rPr>
              <a:t>漏洞整改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47625"/>
            <a:ext cx="12192000" cy="762000"/>
          </a:xfrm>
          <a:prstGeom prst="rect">
            <a:avLst/>
          </a:prstGeom>
          <a:solidFill>
            <a:srgbClr val="F0F5F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47675" y="309562"/>
            <a:ext cx="212740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安全漏洞概述</a:t>
            </a:r>
          </a:p>
        </p:txBody>
      </p:sp>
      <p:sp>
        <p:nvSpPr>
          <p:cNvPr id="7" name="Freeform 7"/>
          <p:cNvSpPr/>
          <p:nvPr/>
        </p:nvSpPr>
        <p:spPr>
          <a:xfrm>
            <a:off x="476250" y="952500"/>
            <a:ext cx="762000" cy="228600"/>
          </a:xfrm>
          <a:custGeom>
            <a:avLst/>
            <a:gdLst/>
            <a:ahLst/>
            <a:cxnLst/>
            <a:rect l="l" t="t" r="r" b="b"/>
            <a:pathLst>
              <a:path w="762000" h="228600">
                <a:moveTo>
                  <a:pt x="38100" y="0"/>
                </a:moveTo>
                <a:lnTo>
                  <a:pt x="723900" y="0"/>
                </a:lnTo>
                <a:cubicBezTo>
                  <a:pt x="744942" y="0"/>
                  <a:pt x="762000" y="17058"/>
                  <a:pt x="762000" y="38100"/>
                </a:cubicBezTo>
                <a:lnTo>
                  <a:pt x="762000" y="190500"/>
                </a:lnTo>
                <a:cubicBezTo>
                  <a:pt x="762000" y="211542"/>
                  <a:pt x="744942" y="228600"/>
                  <a:pt x="723900" y="228600"/>
                </a:cubicBezTo>
                <a:lnTo>
                  <a:pt x="38100" y="228600"/>
                </a:lnTo>
                <a:cubicBezTo>
                  <a:pt x="17058" y="228600"/>
                  <a:pt x="0" y="211542"/>
                  <a:pt x="0" y="1905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DC2626">
              <a:alpha val="1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93741" y="101584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问题说明</a:t>
            </a:r>
          </a:p>
        </p:txBody>
      </p:sp>
      <p:sp>
        <p:nvSpPr>
          <p:cNvPr id="9" name="Freeform 9"/>
          <p:cNvSpPr/>
          <p:nvPr/>
        </p:nvSpPr>
        <p:spPr>
          <a:xfrm>
            <a:off x="476250" y="1333500"/>
            <a:ext cx="11239500" cy="857250"/>
          </a:xfrm>
          <a:custGeom>
            <a:avLst/>
            <a:gdLst/>
            <a:ahLst/>
            <a:cxnLst/>
            <a:rect l="l" t="t" r="r" b="b"/>
            <a:pathLst>
              <a:path w="11239500" h="857250">
                <a:moveTo>
                  <a:pt x="76200" y="0"/>
                </a:moveTo>
                <a:lnTo>
                  <a:pt x="11163300" y="0"/>
                </a:lnTo>
                <a:cubicBezTo>
                  <a:pt x="11205384" y="0"/>
                  <a:pt x="11239500" y="34116"/>
                  <a:pt x="11239500" y="76200"/>
                </a:cubicBezTo>
                <a:lnTo>
                  <a:pt x="11239500" y="781050"/>
                </a:lnTo>
                <a:cubicBezTo>
                  <a:pt x="11239500" y="823134"/>
                  <a:pt x="11205384" y="857250"/>
                  <a:pt x="1116330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EF2F2"/>
          </a:solidFill>
          <a:ln w="9525">
            <a:solidFill>
              <a:srgbClr val="FECACA"/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476250" y="1333500"/>
            <a:ext cx="47625" cy="857250"/>
          </a:xfrm>
          <a:custGeom>
            <a:avLst/>
            <a:gdLst/>
            <a:ahLst/>
            <a:cxnLst/>
            <a:rect l="l" t="t" r="r" b="b"/>
            <a:pathLst>
              <a:path w="47625" h="857250">
                <a:moveTo>
                  <a:pt x="19050" y="0"/>
                </a:moveTo>
                <a:lnTo>
                  <a:pt x="28575" y="0"/>
                </a:lnTo>
                <a:cubicBezTo>
                  <a:pt x="39096" y="0"/>
                  <a:pt x="47625" y="8529"/>
                  <a:pt x="47625" y="19050"/>
                </a:cubicBezTo>
                <a:lnTo>
                  <a:pt x="47625" y="838200"/>
                </a:lnTo>
                <a:cubicBezTo>
                  <a:pt x="47625" y="848721"/>
                  <a:pt x="39096" y="857250"/>
                  <a:pt x="28575" y="857250"/>
                </a:cubicBezTo>
                <a:lnTo>
                  <a:pt x="19050" y="857250"/>
                </a:lnTo>
                <a:cubicBezTo>
                  <a:pt x="8529" y="857250"/>
                  <a:pt x="0" y="848721"/>
                  <a:pt x="0" y="83820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DC2626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701040" y="15249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漏洞共性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1992" y="1780699"/>
            <a:ext cx="460288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F1D1D"/>
                </a:solidFill>
                <a:latin typeface="Arial"/>
                <a:ea typeface="Microsoft YaHei"/>
                <a:cs typeface="Arial"/>
              </a:rPr>
              <a:t>管理员登录页面 / 管理端口暴露于互联网，存在被恶意扫描和攻击的风险</a:t>
            </a:r>
          </a:p>
        </p:txBody>
      </p:sp>
      <p:sp>
        <p:nvSpPr>
          <p:cNvPr id="13" name="Freeform 13"/>
          <p:cNvSpPr/>
          <p:nvPr/>
        </p:nvSpPr>
        <p:spPr>
          <a:xfrm>
            <a:off x="714375" y="1981200"/>
            <a:ext cx="762000" cy="190500"/>
          </a:xfrm>
          <a:custGeom>
            <a:avLst/>
            <a:gdLst/>
            <a:ahLst/>
            <a:cxnLst/>
            <a:rect l="l" t="t" r="r" b="b"/>
            <a:pathLst>
              <a:path w="762000" h="190500">
                <a:moveTo>
                  <a:pt x="28575" y="0"/>
                </a:moveTo>
                <a:lnTo>
                  <a:pt x="733425" y="0"/>
                </a:lnTo>
                <a:cubicBezTo>
                  <a:pt x="749207" y="0"/>
                  <a:pt x="762000" y="12793"/>
                  <a:pt x="762000" y="28575"/>
                </a:cubicBezTo>
                <a:lnTo>
                  <a:pt x="762000" y="161925"/>
                </a:lnTo>
                <a:cubicBezTo>
                  <a:pt x="762000" y="177707"/>
                  <a:pt x="749207" y="190500"/>
                  <a:pt x="733425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55821" y="2033588"/>
            <a:ext cx="479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A56DB"/>
                </a:solidFill>
                <a:latin typeface="Arial"/>
                <a:ea typeface="Microsoft YaHei"/>
                <a:cs typeface="Arial"/>
              </a:rPr>
              <a:t>外网开放</a:t>
            </a:r>
          </a:p>
        </p:txBody>
      </p:sp>
      <p:sp>
        <p:nvSpPr>
          <p:cNvPr id="15" name="Freeform 15"/>
          <p:cNvSpPr/>
          <p:nvPr/>
        </p:nvSpPr>
        <p:spPr>
          <a:xfrm>
            <a:off x="1571625" y="1981200"/>
            <a:ext cx="762000" cy="190500"/>
          </a:xfrm>
          <a:custGeom>
            <a:avLst/>
            <a:gdLst/>
            <a:ahLst/>
            <a:cxnLst/>
            <a:rect l="l" t="t" r="r" b="b"/>
            <a:pathLst>
              <a:path w="762000" h="190500">
                <a:moveTo>
                  <a:pt x="28575" y="0"/>
                </a:moveTo>
                <a:lnTo>
                  <a:pt x="733425" y="0"/>
                </a:lnTo>
                <a:cubicBezTo>
                  <a:pt x="749207" y="0"/>
                  <a:pt x="762000" y="12793"/>
                  <a:pt x="762000" y="28575"/>
                </a:cubicBezTo>
                <a:lnTo>
                  <a:pt x="762000" y="161925"/>
                </a:lnTo>
                <a:cubicBezTo>
                  <a:pt x="762000" y="177707"/>
                  <a:pt x="749207" y="190500"/>
                  <a:pt x="733425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721697" y="2033588"/>
            <a:ext cx="46185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A56DB"/>
                </a:solidFill>
                <a:latin typeface="Arial"/>
                <a:ea typeface="Microsoft YaHei"/>
                <a:cs typeface="Arial"/>
              </a:rPr>
              <a:t>无法限IP</a:t>
            </a:r>
          </a:p>
        </p:txBody>
      </p:sp>
      <p:sp>
        <p:nvSpPr>
          <p:cNvPr id="17" name="Freeform 17"/>
          <p:cNvSpPr/>
          <p:nvPr/>
        </p:nvSpPr>
        <p:spPr>
          <a:xfrm>
            <a:off x="2428875" y="1981200"/>
            <a:ext cx="762000" cy="190500"/>
          </a:xfrm>
          <a:custGeom>
            <a:avLst/>
            <a:gdLst/>
            <a:ahLst/>
            <a:cxnLst/>
            <a:rect l="l" t="t" r="r" b="b"/>
            <a:pathLst>
              <a:path w="762000" h="190500">
                <a:moveTo>
                  <a:pt x="28575" y="0"/>
                </a:moveTo>
                <a:lnTo>
                  <a:pt x="733425" y="0"/>
                </a:lnTo>
                <a:cubicBezTo>
                  <a:pt x="749207" y="0"/>
                  <a:pt x="762000" y="12793"/>
                  <a:pt x="762000" y="28575"/>
                </a:cubicBezTo>
                <a:lnTo>
                  <a:pt x="762000" y="161925"/>
                </a:lnTo>
                <a:cubicBezTo>
                  <a:pt x="762000" y="177707"/>
                  <a:pt x="749207" y="190500"/>
                  <a:pt x="733425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2527191" y="2033588"/>
            <a:ext cx="56536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A56DB"/>
                </a:solidFill>
                <a:latin typeface="Arial"/>
                <a:ea typeface="Microsoft YaHei"/>
                <a:cs typeface="Arial"/>
              </a:rPr>
              <a:t>HTTPS加密</a:t>
            </a:r>
          </a:p>
        </p:txBody>
      </p:sp>
      <p:sp>
        <p:nvSpPr>
          <p:cNvPr id="19" name="Freeform 19"/>
          <p:cNvSpPr/>
          <p:nvPr/>
        </p:nvSpPr>
        <p:spPr>
          <a:xfrm>
            <a:off x="3286125" y="1981200"/>
            <a:ext cx="1047750" cy="190500"/>
          </a:xfrm>
          <a:custGeom>
            <a:avLst/>
            <a:gdLst/>
            <a:ahLst/>
            <a:cxnLst/>
            <a:rect l="l" t="t" r="r" b="b"/>
            <a:pathLst>
              <a:path w="1047750" h="190500">
                <a:moveTo>
                  <a:pt x="28575" y="0"/>
                </a:moveTo>
                <a:lnTo>
                  <a:pt x="1019175" y="0"/>
                </a:lnTo>
                <a:cubicBezTo>
                  <a:pt x="1034957" y="0"/>
                  <a:pt x="1047750" y="12793"/>
                  <a:pt x="1047750" y="28575"/>
                </a:cubicBezTo>
                <a:lnTo>
                  <a:pt x="1047750" y="161925"/>
                </a:lnTo>
                <a:cubicBezTo>
                  <a:pt x="1047750" y="177707"/>
                  <a:pt x="1034957" y="190500"/>
                  <a:pt x="1019175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3455432" y="2033588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A56DB"/>
                </a:solidFill>
                <a:latin typeface="Arial"/>
                <a:ea typeface="Microsoft YaHei"/>
                <a:cs typeface="Arial"/>
              </a:rPr>
              <a:t>已第三方测试</a:t>
            </a:r>
          </a:p>
        </p:txBody>
      </p:sp>
      <p:sp>
        <p:nvSpPr>
          <p:cNvPr id="21" name="Freeform 21"/>
          <p:cNvSpPr/>
          <p:nvPr/>
        </p:nvSpPr>
        <p:spPr>
          <a:xfrm>
            <a:off x="476250" y="2381250"/>
            <a:ext cx="3619500" cy="1143000"/>
          </a:xfrm>
          <a:custGeom>
            <a:avLst/>
            <a:gdLst/>
            <a:ahLst/>
            <a:cxnLst/>
            <a:rect l="l" t="t" r="r" b="b"/>
            <a:pathLst>
              <a:path w="3619500" h="1143000">
                <a:moveTo>
                  <a:pt x="76200" y="0"/>
                </a:moveTo>
                <a:lnTo>
                  <a:pt x="3543300" y="0"/>
                </a:lnTo>
                <a:cubicBezTo>
                  <a:pt x="3585384" y="0"/>
                  <a:pt x="3619500" y="34116"/>
                  <a:pt x="3619500" y="76200"/>
                </a:cubicBezTo>
                <a:lnTo>
                  <a:pt x="3619500" y="1066800"/>
                </a:lnTo>
                <a:cubicBezTo>
                  <a:pt x="3619500" y="1108884"/>
                  <a:pt x="3585384" y="1143000"/>
                  <a:pt x="35433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22" name="Freeform 22"/>
          <p:cNvSpPr/>
          <p:nvPr/>
        </p:nvSpPr>
        <p:spPr>
          <a:xfrm>
            <a:off x="476250" y="2381250"/>
            <a:ext cx="3619500" cy="47625"/>
          </a:xfrm>
          <a:custGeom>
            <a:avLst/>
            <a:gdLst/>
            <a:ahLst/>
            <a:cxnLst/>
            <a:rect l="l" t="t" r="r" b="b"/>
            <a:pathLst>
              <a:path w="3619500" h="47625">
                <a:moveTo>
                  <a:pt x="28575" y="0"/>
                </a:moveTo>
                <a:lnTo>
                  <a:pt x="3590925" y="0"/>
                </a:lnTo>
                <a:cubicBezTo>
                  <a:pt x="3606707" y="0"/>
                  <a:pt x="3619500" y="10661"/>
                  <a:pt x="3619500" y="23812"/>
                </a:cubicBezTo>
                <a:lnTo>
                  <a:pt x="3619500" y="23812"/>
                </a:lnTo>
                <a:cubicBezTo>
                  <a:pt x="3619500" y="36964"/>
                  <a:pt x="3606707" y="47625"/>
                  <a:pt x="3590925" y="47625"/>
                </a:cubicBezTo>
                <a:lnTo>
                  <a:pt x="28575" y="47625"/>
                </a:lnTo>
                <a:cubicBezTo>
                  <a:pt x="12793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2793" y="0"/>
                  <a:pt x="28575" y="0"/>
                </a:cubicBezTo>
                <a:close/>
              </a:path>
            </a:pathLst>
          </a:custGeom>
          <a:solidFill>
            <a:srgbClr val="DC2626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666750" y="261937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57150" y="0"/>
                </a:moveTo>
                <a:lnTo>
                  <a:pt x="285750" y="0"/>
                </a:lnTo>
                <a:cubicBezTo>
                  <a:pt x="317313" y="0"/>
                  <a:pt x="342900" y="25587"/>
                  <a:pt x="342900" y="57150"/>
                </a:cubicBezTo>
                <a:lnTo>
                  <a:pt x="342900" y="285750"/>
                </a:lnTo>
                <a:cubicBezTo>
                  <a:pt x="342900" y="317313"/>
                  <a:pt x="317313" y="342900"/>
                  <a:pt x="285750" y="342900"/>
                </a:cubicBezTo>
                <a:lnTo>
                  <a:pt x="57150" y="342900"/>
                </a:lnTo>
                <a:cubicBezTo>
                  <a:pt x="25587" y="342900"/>
                  <a:pt x="0" y="317313"/>
                  <a:pt x="0" y="285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EF2F2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800712" y="2725102"/>
            <a:ext cx="749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29665" y="2667952"/>
            <a:ext cx="19830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系统一 · 共享资源管理平台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31570" y="2893695"/>
            <a:ext cx="13767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rsp.towngas.com.cn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5320" y="321754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暴露端口：</a:t>
            </a:r>
          </a:p>
        </p:txBody>
      </p:sp>
      <p:sp>
        <p:nvSpPr>
          <p:cNvPr id="28" name="Freeform 28"/>
          <p:cNvSpPr/>
          <p:nvPr/>
        </p:nvSpPr>
        <p:spPr>
          <a:xfrm>
            <a:off x="1333500" y="3181350"/>
            <a:ext cx="476250" cy="190500"/>
          </a:xfrm>
          <a:custGeom>
            <a:avLst/>
            <a:gdLst/>
            <a:ahLst/>
            <a:cxnLst/>
            <a:rect l="l" t="t" r="r" b="b"/>
            <a:pathLst>
              <a:path w="476250" h="190500">
                <a:moveTo>
                  <a:pt x="28575" y="0"/>
                </a:moveTo>
                <a:lnTo>
                  <a:pt x="447675" y="0"/>
                </a:lnTo>
                <a:cubicBezTo>
                  <a:pt x="463457" y="0"/>
                  <a:pt x="476250" y="12793"/>
                  <a:pt x="476250" y="28575"/>
                </a:cubicBezTo>
                <a:lnTo>
                  <a:pt x="476250" y="161925"/>
                </a:lnTo>
                <a:cubicBezTo>
                  <a:pt x="476250" y="177707"/>
                  <a:pt x="463457" y="190500"/>
                  <a:pt x="447675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EE2E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415606" y="3217545"/>
            <a:ext cx="3120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DC2626"/>
                </a:solidFill>
                <a:latin typeface="Consolas"/>
                <a:ea typeface="Microsoft YaHei"/>
                <a:cs typeface="Consolas"/>
              </a:rPr>
              <a:t>3389</a:t>
            </a:r>
          </a:p>
        </p:txBody>
      </p:sp>
      <p:sp>
        <p:nvSpPr>
          <p:cNvPr id="30" name="Freeform 30"/>
          <p:cNvSpPr/>
          <p:nvPr/>
        </p:nvSpPr>
        <p:spPr>
          <a:xfrm>
            <a:off x="1885950" y="3181350"/>
            <a:ext cx="476250" cy="190500"/>
          </a:xfrm>
          <a:custGeom>
            <a:avLst/>
            <a:gdLst/>
            <a:ahLst/>
            <a:cxnLst/>
            <a:rect l="l" t="t" r="r" b="b"/>
            <a:pathLst>
              <a:path w="476250" h="190500">
                <a:moveTo>
                  <a:pt x="28575" y="0"/>
                </a:moveTo>
                <a:lnTo>
                  <a:pt x="447675" y="0"/>
                </a:lnTo>
                <a:cubicBezTo>
                  <a:pt x="463457" y="0"/>
                  <a:pt x="476250" y="12793"/>
                  <a:pt x="476250" y="28575"/>
                </a:cubicBezTo>
                <a:lnTo>
                  <a:pt x="476250" y="161925"/>
                </a:lnTo>
                <a:cubicBezTo>
                  <a:pt x="476250" y="177707"/>
                  <a:pt x="463457" y="190500"/>
                  <a:pt x="447675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EE2E2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968056" y="3217545"/>
            <a:ext cx="3120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DC2626"/>
                </a:solidFill>
                <a:latin typeface="Consolas"/>
                <a:ea typeface="Microsoft YaHei"/>
                <a:cs typeface="Consolas"/>
              </a:rPr>
              <a:t>5985</a:t>
            </a:r>
          </a:p>
        </p:txBody>
      </p:sp>
      <p:sp>
        <p:nvSpPr>
          <p:cNvPr id="32" name="Freeform 32"/>
          <p:cNvSpPr/>
          <p:nvPr/>
        </p:nvSpPr>
        <p:spPr>
          <a:xfrm>
            <a:off x="2438400" y="3181350"/>
            <a:ext cx="476250" cy="190500"/>
          </a:xfrm>
          <a:custGeom>
            <a:avLst/>
            <a:gdLst/>
            <a:ahLst/>
            <a:cxnLst/>
            <a:rect l="l" t="t" r="r" b="b"/>
            <a:pathLst>
              <a:path w="476250" h="190500">
                <a:moveTo>
                  <a:pt x="28575" y="0"/>
                </a:moveTo>
                <a:lnTo>
                  <a:pt x="447675" y="0"/>
                </a:lnTo>
                <a:cubicBezTo>
                  <a:pt x="463457" y="0"/>
                  <a:pt x="476250" y="12793"/>
                  <a:pt x="476250" y="28575"/>
                </a:cubicBezTo>
                <a:lnTo>
                  <a:pt x="476250" y="161925"/>
                </a:lnTo>
                <a:cubicBezTo>
                  <a:pt x="476250" y="177707"/>
                  <a:pt x="463457" y="190500"/>
                  <a:pt x="447675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EE2E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2520506" y="3217545"/>
            <a:ext cx="3120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DC2626"/>
                </a:solidFill>
                <a:latin typeface="Consolas"/>
                <a:ea typeface="Microsoft YaHei"/>
                <a:cs typeface="Consolas"/>
              </a:rPr>
              <a:t>5986</a:t>
            </a:r>
          </a:p>
        </p:txBody>
      </p:sp>
      <p:sp>
        <p:nvSpPr>
          <p:cNvPr id="34" name="Freeform 34"/>
          <p:cNvSpPr/>
          <p:nvPr/>
        </p:nvSpPr>
        <p:spPr>
          <a:xfrm>
            <a:off x="4286250" y="2381250"/>
            <a:ext cx="3619500" cy="1143000"/>
          </a:xfrm>
          <a:custGeom>
            <a:avLst/>
            <a:gdLst/>
            <a:ahLst/>
            <a:cxnLst/>
            <a:rect l="l" t="t" r="r" b="b"/>
            <a:pathLst>
              <a:path w="3619500" h="1143000">
                <a:moveTo>
                  <a:pt x="76200" y="0"/>
                </a:moveTo>
                <a:lnTo>
                  <a:pt x="3543300" y="0"/>
                </a:lnTo>
                <a:cubicBezTo>
                  <a:pt x="3585384" y="0"/>
                  <a:pt x="3619500" y="34116"/>
                  <a:pt x="3619500" y="76200"/>
                </a:cubicBezTo>
                <a:lnTo>
                  <a:pt x="3619500" y="1066800"/>
                </a:lnTo>
                <a:cubicBezTo>
                  <a:pt x="3619500" y="1108884"/>
                  <a:pt x="3585384" y="1143000"/>
                  <a:pt x="35433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35" name="Freeform 35"/>
          <p:cNvSpPr/>
          <p:nvPr/>
        </p:nvSpPr>
        <p:spPr>
          <a:xfrm>
            <a:off x="4286250" y="2381250"/>
            <a:ext cx="3619500" cy="47625"/>
          </a:xfrm>
          <a:custGeom>
            <a:avLst/>
            <a:gdLst/>
            <a:ahLst/>
            <a:cxnLst/>
            <a:rect l="l" t="t" r="r" b="b"/>
            <a:pathLst>
              <a:path w="3619500" h="47625">
                <a:moveTo>
                  <a:pt x="28575" y="0"/>
                </a:moveTo>
                <a:lnTo>
                  <a:pt x="3590925" y="0"/>
                </a:lnTo>
                <a:cubicBezTo>
                  <a:pt x="3606707" y="0"/>
                  <a:pt x="3619500" y="10661"/>
                  <a:pt x="3619500" y="23812"/>
                </a:cubicBezTo>
                <a:lnTo>
                  <a:pt x="3619500" y="23812"/>
                </a:lnTo>
                <a:cubicBezTo>
                  <a:pt x="3619500" y="36964"/>
                  <a:pt x="3606707" y="47625"/>
                  <a:pt x="3590925" y="47625"/>
                </a:cubicBezTo>
                <a:lnTo>
                  <a:pt x="28575" y="47625"/>
                </a:lnTo>
                <a:cubicBezTo>
                  <a:pt x="12793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2793" y="0"/>
                  <a:pt x="28575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36" name="Freeform 36"/>
          <p:cNvSpPr/>
          <p:nvPr/>
        </p:nvSpPr>
        <p:spPr>
          <a:xfrm>
            <a:off x="4476750" y="261937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57150" y="0"/>
                </a:moveTo>
                <a:lnTo>
                  <a:pt x="285750" y="0"/>
                </a:lnTo>
                <a:cubicBezTo>
                  <a:pt x="317313" y="0"/>
                  <a:pt x="342900" y="25587"/>
                  <a:pt x="342900" y="57150"/>
                </a:cubicBezTo>
                <a:lnTo>
                  <a:pt x="342900" y="285750"/>
                </a:lnTo>
                <a:cubicBezTo>
                  <a:pt x="342900" y="317313"/>
                  <a:pt x="317313" y="342900"/>
                  <a:pt x="285750" y="342900"/>
                </a:cubicBezTo>
                <a:lnTo>
                  <a:pt x="57150" y="342900"/>
                </a:lnTo>
                <a:cubicBezTo>
                  <a:pt x="25587" y="342900"/>
                  <a:pt x="0" y="317313"/>
                  <a:pt x="0" y="285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EF3C7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590584" y="272510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939665" y="2667952"/>
            <a:ext cx="15000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系统二 · 电子卡系统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941570" y="2893695"/>
            <a:ext cx="15213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ecard.towngas.com.cn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465320" y="321754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暴露端口：</a:t>
            </a:r>
          </a:p>
        </p:txBody>
      </p:sp>
      <p:sp>
        <p:nvSpPr>
          <p:cNvPr id="41" name="Freeform 41"/>
          <p:cNvSpPr/>
          <p:nvPr/>
        </p:nvSpPr>
        <p:spPr>
          <a:xfrm>
            <a:off x="5191125" y="3181350"/>
            <a:ext cx="476250" cy="190500"/>
          </a:xfrm>
          <a:custGeom>
            <a:avLst/>
            <a:gdLst/>
            <a:ahLst/>
            <a:cxnLst/>
            <a:rect l="l" t="t" r="r" b="b"/>
            <a:pathLst>
              <a:path w="476250" h="190500">
                <a:moveTo>
                  <a:pt x="28575" y="0"/>
                </a:moveTo>
                <a:lnTo>
                  <a:pt x="447675" y="0"/>
                </a:lnTo>
                <a:cubicBezTo>
                  <a:pt x="463457" y="0"/>
                  <a:pt x="476250" y="12793"/>
                  <a:pt x="476250" y="28575"/>
                </a:cubicBezTo>
                <a:lnTo>
                  <a:pt x="476250" y="161925"/>
                </a:lnTo>
                <a:cubicBezTo>
                  <a:pt x="476250" y="177707"/>
                  <a:pt x="463457" y="190500"/>
                  <a:pt x="447675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EF3C7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273230" y="3217545"/>
            <a:ext cx="3120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D97706"/>
                </a:solidFill>
                <a:latin typeface="Consolas"/>
                <a:ea typeface="Microsoft YaHei"/>
                <a:cs typeface="Consolas"/>
              </a:rPr>
              <a:t>3389</a:t>
            </a:r>
          </a:p>
        </p:txBody>
      </p:sp>
      <p:sp>
        <p:nvSpPr>
          <p:cNvPr id="43" name="Freeform 43"/>
          <p:cNvSpPr/>
          <p:nvPr/>
        </p:nvSpPr>
        <p:spPr>
          <a:xfrm>
            <a:off x="8096250" y="2381250"/>
            <a:ext cx="3619500" cy="1143000"/>
          </a:xfrm>
          <a:custGeom>
            <a:avLst/>
            <a:gdLst/>
            <a:ahLst/>
            <a:cxnLst/>
            <a:rect l="l" t="t" r="r" b="b"/>
            <a:pathLst>
              <a:path w="3619500" h="1143000">
                <a:moveTo>
                  <a:pt x="76200" y="0"/>
                </a:moveTo>
                <a:lnTo>
                  <a:pt x="3543300" y="0"/>
                </a:lnTo>
                <a:cubicBezTo>
                  <a:pt x="3585384" y="0"/>
                  <a:pt x="3619500" y="34116"/>
                  <a:pt x="3619500" y="76200"/>
                </a:cubicBezTo>
                <a:lnTo>
                  <a:pt x="3619500" y="1066800"/>
                </a:lnTo>
                <a:cubicBezTo>
                  <a:pt x="3619500" y="1108884"/>
                  <a:pt x="3585384" y="1143000"/>
                  <a:pt x="35433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5E7EB"/>
            </a:solidFill>
          </a:ln>
        </p:spPr>
      </p:sp>
      <p:sp>
        <p:nvSpPr>
          <p:cNvPr id="44" name="Freeform 44"/>
          <p:cNvSpPr/>
          <p:nvPr/>
        </p:nvSpPr>
        <p:spPr>
          <a:xfrm>
            <a:off x="8096250" y="2381250"/>
            <a:ext cx="3619500" cy="47625"/>
          </a:xfrm>
          <a:custGeom>
            <a:avLst/>
            <a:gdLst/>
            <a:ahLst/>
            <a:cxnLst/>
            <a:rect l="l" t="t" r="r" b="b"/>
            <a:pathLst>
              <a:path w="3619500" h="47625">
                <a:moveTo>
                  <a:pt x="28575" y="0"/>
                </a:moveTo>
                <a:lnTo>
                  <a:pt x="3590925" y="0"/>
                </a:lnTo>
                <a:cubicBezTo>
                  <a:pt x="3606707" y="0"/>
                  <a:pt x="3619500" y="10661"/>
                  <a:pt x="3619500" y="23812"/>
                </a:cubicBezTo>
                <a:lnTo>
                  <a:pt x="3619500" y="23812"/>
                </a:lnTo>
                <a:cubicBezTo>
                  <a:pt x="3619500" y="36964"/>
                  <a:pt x="3606707" y="47625"/>
                  <a:pt x="3590925" y="47625"/>
                </a:cubicBezTo>
                <a:lnTo>
                  <a:pt x="28575" y="47625"/>
                </a:lnTo>
                <a:cubicBezTo>
                  <a:pt x="12793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2793" y="0"/>
                  <a:pt x="28575" y="0"/>
                </a:cubicBezTo>
                <a:close/>
              </a:path>
            </a:pathLst>
          </a:custGeom>
          <a:solidFill>
            <a:srgbClr val="D97706"/>
          </a:solidFill>
          <a:ln>
            <a:noFill/>
          </a:ln>
        </p:spPr>
      </p:sp>
      <p:sp>
        <p:nvSpPr>
          <p:cNvPr id="45" name="Freeform 45"/>
          <p:cNvSpPr/>
          <p:nvPr/>
        </p:nvSpPr>
        <p:spPr>
          <a:xfrm>
            <a:off x="8286750" y="2619375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57150" y="0"/>
                </a:moveTo>
                <a:lnTo>
                  <a:pt x="285750" y="0"/>
                </a:lnTo>
                <a:cubicBezTo>
                  <a:pt x="317313" y="0"/>
                  <a:pt x="342900" y="25587"/>
                  <a:pt x="342900" y="57150"/>
                </a:cubicBezTo>
                <a:lnTo>
                  <a:pt x="342900" y="285750"/>
                </a:lnTo>
                <a:cubicBezTo>
                  <a:pt x="342900" y="317313"/>
                  <a:pt x="317313" y="342900"/>
                  <a:pt x="285750" y="342900"/>
                </a:cubicBezTo>
                <a:lnTo>
                  <a:pt x="57150" y="342900"/>
                </a:lnTo>
                <a:cubicBezTo>
                  <a:pt x="25587" y="342900"/>
                  <a:pt x="0" y="317313"/>
                  <a:pt x="0" y="2857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EF3C7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8400584" y="2725102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749665" y="2667952"/>
            <a:ext cx="16610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系统三 · 后台管理系统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751570" y="2893695"/>
            <a:ext cx="15607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houtai.towngas.com.cn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275320" y="321754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暴露路径：</a:t>
            </a:r>
          </a:p>
        </p:txBody>
      </p:sp>
      <p:sp>
        <p:nvSpPr>
          <p:cNvPr id="50" name="Freeform 50"/>
          <p:cNvSpPr/>
          <p:nvPr/>
        </p:nvSpPr>
        <p:spPr>
          <a:xfrm>
            <a:off x="9001125" y="3181350"/>
            <a:ext cx="1143000" cy="190500"/>
          </a:xfrm>
          <a:custGeom>
            <a:avLst/>
            <a:gdLst/>
            <a:ahLst/>
            <a:cxnLst/>
            <a:rect l="l" t="t" r="r" b="b"/>
            <a:pathLst>
              <a:path w="1143000" h="190500">
                <a:moveTo>
                  <a:pt x="28575" y="0"/>
                </a:moveTo>
                <a:lnTo>
                  <a:pt x="1114425" y="0"/>
                </a:lnTo>
                <a:cubicBezTo>
                  <a:pt x="1130207" y="0"/>
                  <a:pt x="1143000" y="12793"/>
                  <a:pt x="1143000" y="28575"/>
                </a:cubicBezTo>
                <a:lnTo>
                  <a:pt x="1143000" y="161925"/>
                </a:lnTo>
                <a:cubicBezTo>
                  <a:pt x="1143000" y="177707"/>
                  <a:pt x="1130207" y="190500"/>
                  <a:pt x="1114425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FEF3C7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9266944" y="3225641"/>
            <a:ext cx="6113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97706"/>
                </a:solidFill>
                <a:latin typeface="Consolas"/>
                <a:ea typeface="Microsoft YaHei"/>
                <a:cs typeface="Consolas"/>
              </a:rPr>
              <a:t>/cmsLogin</a:t>
            </a:r>
          </a:p>
        </p:txBody>
      </p:sp>
      <p:sp>
        <p:nvSpPr>
          <p:cNvPr id="52" name="Freeform 52"/>
          <p:cNvSpPr/>
          <p:nvPr/>
        </p:nvSpPr>
        <p:spPr>
          <a:xfrm>
            <a:off x="476250" y="3810000"/>
            <a:ext cx="11239500" cy="476250"/>
          </a:xfrm>
          <a:custGeom>
            <a:avLst/>
            <a:gdLst/>
            <a:ahLst/>
            <a:cxnLst/>
            <a:rect l="l" t="t" r="r" b="b"/>
            <a:pathLst>
              <a:path w="11239500" h="476250">
                <a:moveTo>
                  <a:pt x="76200" y="0"/>
                </a:moveTo>
                <a:lnTo>
                  <a:pt x="11163300" y="0"/>
                </a:lnTo>
                <a:cubicBezTo>
                  <a:pt x="11205384" y="0"/>
                  <a:pt x="11239500" y="34116"/>
                  <a:pt x="11239500" y="76200"/>
                </a:cubicBezTo>
                <a:lnTo>
                  <a:pt x="11239500" y="400050"/>
                </a:lnTo>
                <a:cubicBezTo>
                  <a:pt x="11239500" y="442134"/>
                  <a:pt x="11205384" y="476250"/>
                  <a:pt x="111633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DC2626">
              <a:alpha val="5000"/>
            </a:srgbClr>
          </a:solidFill>
          <a:ln w="9525">
            <a:solidFill>
              <a:srgbClr val="DC2626">
                <a:alpha val="1000"/>
              </a:srgbClr>
            </a:solidFill>
          </a:ln>
        </p:spPr>
      </p:sp>
      <p:sp>
        <p:nvSpPr>
          <p:cNvPr id="53" name="TextBox 53"/>
          <p:cNvSpPr txBox="1"/>
          <p:nvPr/>
        </p:nvSpPr>
        <p:spPr>
          <a:xfrm>
            <a:off x="654368" y="3990499"/>
            <a:ext cx="56779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91B1B"/>
                </a:solidFill>
                <a:latin typeface="Arial"/>
                <a:ea typeface="Microsoft YaHei"/>
                <a:cs typeface="Arial"/>
              </a:rPr>
              <a:t>⚠ 以上三个系统均面向外网开放，无法限定访问IP，经香港红队评估确认存在严重安全风险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949970" y="6578441"/>
            <a:ext cx="2920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2 / 6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47625"/>
            <a:ext cx="12192000" cy="762000"/>
          </a:xfrm>
          <a:prstGeom prst="rect">
            <a:avLst/>
          </a:prstGeom>
          <a:solidFill>
            <a:srgbClr val="F0F5F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47675" y="309562"/>
            <a:ext cx="4249424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系统一 · 共享资源管理平台</a:t>
            </a:r>
          </a:p>
        </p:txBody>
      </p:sp>
      <p:sp>
        <p:nvSpPr>
          <p:cNvPr id="7" name="Freeform 7"/>
          <p:cNvSpPr/>
          <p:nvPr/>
        </p:nvSpPr>
        <p:spPr>
          <a:xfrm>
            <a:off x="476250" y="952500"/>
            <a:ext cx="952500" cy="247650"/>
          </a:xfrm>
          <a:custGeom>
            <a:avLst/>
            <a:gdLst/>
            <a:ahLst/>
            <a:cxnLst/>
            <a:rect l="l" t="t" r="r" b="b"/>
            <a:pathLst>
              <a:path w="952500" h="247650">
                <a:moveTo>
                  <a:pt x="123825" y="0"/>
                </a:moveTo>
                <a:lnTo>
                  <a:pt x="828675" y="0"/>
                </a:lnTo>
                <a:cubicBezTo>
                  <a:pt x="897062" y="0"/>
                  <a:pt x="952500" y="55438"/>
                  <a:pt x="952500" y="123825"/>
                </a:cubicBezTo>
                <a:lnTo>
                  <a:pt x="952500" y="123825"/>
                </a:lnTo>
                <a:cubicBezTo>
                  <a:pt x="952500" y="192212"/>
                  <a:pt x="897062" y="247650"/>
                  <a:pt x="828675" y="247650"/>
                </a:cubicBezTo>
                <a:lnTo>
                  <a:pt x="123825" y="247650"/>
                </a:lnTo>
                <a:cubicBezTo>
                  <a:pt x="55438" y="247650"/>
                  <a:pt x="0" y="192212"/>
                  <a:pt x="0" y="123825"/>
                </a:cubicBezTo>
                <a:lnTo>
                  <a:pt x="0" y="123825"/>
                </a:lnTo>
                <a:cubicBezTo>
                  <a:pt x="0" y="55438"/>
                  <a:pt x="55438" y="0"/>
                  <a:pt x="123825" y="0"/>
                </a:cubicBezTo>
                <a:close/>
              </a:path>
            </a:pathLst>
          </a:custGeom>
          <a:solidFill>
            <a:srgbClr val="1A56DB">
              <a:alpha val="1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47873" y="1015841"/>
            <a:ext cx="6092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A56DB"/>
                </a:solidFill>
                <a:latin typeface="Arial"/>
                <a:ea typeface="Microsoft YaHei"/>
                <a:cs typeface="Arial"/>
              </a:rPr>
              <a:t>SYSTEM 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2915" y="1296352"/>
            <a:ext cx="16062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rsp.towngas.com.cn</a:t>
            </a:r>
          </a:p>
        </p:txBody>
      </p:sp>
      <p:sp>
        <p:nvSpPr>
          <p:cNvPr id="10" name="Freeform 10"/>
          <p:cNvSpPr/>
          <p:nvPr/>
        </p:nvSpPr>
        <p:spPr>
          <a:xfrm>
            <a:off x="476250" y="1666875"/>
            <a:ext cx="5524500" cy="2000250"/>
          </a:xfrm>
          <a:custGeom>
            <a:avLst/>
            <a:gdLst/>
            <a:ahLst/>
            <a:cxnLst/>
            <a:rect l="l" t="t" r="r" b="b"/>
            <a:pathLst>
              <a:path w="5524500" h="2000250">
                <a:moveTo>
                  <a:pt x="95250" y="0"/>
                </a:moveTo>
                <a:lnTo>
                  <a:pt x="5429250" y="0"/>
                </a:lnTo>
                <a:cubicBezTo>
                  <a:pt x="5481855" y="0"/>
                  <a:pt x="5524500" y="42645"/>
                  <a:pt x="5524500" y="95250"/>
                </a:cubicBezTo>
                <a:lnTo>
                  <a:pt x="5524500" y="1905000"/>
                </a:lnTo>
                <a:cubicBezTo>
                  <a:pt x="5524500" y="1957605"/>
                  <a:pt x="5481855" y="2000250"/>
                  <a:pt x="5429250" y="2000250"/>
                </a:cubicBezTo>
                <a:lnTo>
                  <a:pt x="95250" y="2000250"/>
                </a:lnTo>
                <a:cubicBezTo>
                  <a:pt x="42645" y="2000250"/>
                  <a:pt x="0" y="1957605"/>
                  <a:pt x="0" y="1905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EF2F2"/>
          </a:solidFill>
          <a:ln w="9525">
            <a:solidFill>
              <a:srgbClr val="FECACA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476250" y="1666875"/>
            <a:ext cx="5524500" cy="57150"/>
          </a:xfrm>
          <a:custGeom>
            <a:avLst/>
            <a:gdLst/>
            <a:ahLst/>
            <a:cxnLst/>
            <a:rect l="l" t="t" r="r" b="b"/>
            <a:pathLst>
              <a:path w="5524500" h="57150">
                <a:moveTo>
                  <a:pt x="28575" y="0"/>
                </a:moveTo>
                <a:lnTo>
                  <a:pt x="5495925" y="0"/>
                </a:lnTo>
                <a:cubicBezTo>
                  <a:pt x="5511707" y="0"/>
                  <a:pt x="5524500" y="12793"/>
                  <a:pt x="5524500" y="28575"/>
                </a:cubicBezTo>
                <a:lnTo>
                  <a:pt x="5524500" y="28575"/>
                </a:lnTo>
                <a:cubicBezTo>
                  <a:pt x="5524500" y="44357"/>
                  <a:pt x="5511707" y="57150"/>
                  <a:pt x="54959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DC2626"/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714375" y="1952625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76200" y="0"/>
                </a:moveTo>
                <a:lnTo>
                  <a:pt x="342900" y="0"/>
                </a:lnTo>
                <a:cubicBezTo>
                  <a:pt x="384984" y="0"/>
                  <a:pt x="419100" y="34116"/>
                  <a:pt x="419100" y="76200"/>
                </a:cubicBezTo>
                <a:lnTo>
                  <a:pt x="419100" y="342900"/>
                </a:lnTo>
                <a:cubicBezTo>
                  <a:pt x="419100" y="384984"/>
                  <a:pt x="384984" y="419100"/>
                  <a:pt x="3429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EE2E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59660" y="2034540"/>
            <a:ext cx="1285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!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69682" y="2005489"/>
            <a:ext cx="814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漏洞说明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3492" y="2275999"/>
            <a:ext cx="29012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F1D1D"/>
                </a:solidFill>
                <a:latin typeface="Arial"/>
                <a:ea typeface="Microsoft YaHei"/>
                <a:cs typeface="Arial"/>
              </a:rPr>
              <a:t>3389 / 5985 / 5986 管理端口直接暴露于公网</a:t>
            </a:r>
          </a:p>
        </p:txBody>
      </p:sp>
      <p:sp>
        <p:nvSpPr>
          <p:cNvPr id="16" name="Freeform 16"/>
          <p:cNvSpPr/>
          <p:nvPr/>
        </p:nvSpPr>
        <p:spPr>
          <a:xfrm>
            <a:off x="714375" y="2552700"/>
            <a:ext cx="571500" cy="247650"/>
          </a:xfrm>
          <a:custGeom>
            <a:avLst/>
            <a:gdLst/>
            <a:ahLst/>
            <a:cxnLst/>
            <a:rect l="l" t="t" r="r" b="b"/>
            <a:pathLst>
              <a:path w="571500" h="247650">
                <a:moveTo>
                  <a:pt x="38100" y="0"/>
                </a:moveTo>
                <a:lnTo>
                  <a:pt x="533400" y="0"/>
                </a:lnTo>
                <a:cubicBezTo>
                  <a:pt x="554442" y="0"/>
                  <a:pt x="571500" y="17058"/>
                  <a:pt x="571500" y="38100"/>
                </a:cubicBezTo>
                <a:lnTo>
                  <a:pt x="571500" y="209550"/>
                </a:lnTo>
                <a:cubicBezTo>
                  <a:pt x="571500" y="230592"/>
                  <a:pt x="554442" y="247650"/>
                  <a:pt x="533400" y="247650"/>
                </a:cubicBezTo>
                <a:lnTo>
                  <a:pt x="38100" y="247650"/>
                </a:lnTo>
                <a:cubicBezTo>
                  <a:pt x="17058" y="247650"/>
                  <a:pt x="0" y="230592"/>
                  <a:pt x="0" y="2095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DC2626">
              <a:alpha val="15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09668" y="2610802"/>
            <a:ext cx="3809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C2626"/>
                </a:solidFill>
                <a:latin typeface="Consolas"/>
                <a:ea typeface="Microsoft YaHei"/>
                <a:cs typeface="Consolas"/>
              </a:rPr>
              <a:t>3389</a:t>
            </a:r>
          </a:p>
        </p:txBody>
      </p:sp>
      <p:sp>
        <p:nvSpPr>
          <p:cNvPr id="18" name="Freeform 18"/>
          <p:cNvSpPr/>
          <p:nvPr/>
        </p:nvSpPr>
        <p:spPr>
          <a:xfrm>
            <a:off x="1362075" y="2552700"/>
            <a:ext cx="571500" cy="247650"/>
          </a:xfrm>
          <a:custGeom>
            <a:avLst/>
            <a:gdLst/>
            <a:ahLst/>
            <a:cxnLst/>
            <a:rect l="l" t="t" r="r" b="b"/>
            <a:pathLst>
              <a:path w="571500" h="247650">
                <a:moveTo>
                  <a:pt x="38100" y="0"/>
                </a:moveTo>
                <a:lnTo>
                  <a:pt x="533400" y="0"/>
                </a:lnTo>
                <a:cubicBezTo>
                  <a:pt x="554442" y="0"/>
                  <a:pt x="571500" y="17058"/>
                  <a:pt x="571500" y="38100"/>
                </a:cubicBezTo>
                <a:lnTo>
                  <a:pt x="571500" y="209550"/>
                </a:lnTo>
                <a:cubicBezTo>
                  <a:pt x="571500" y="230592"/>
                  <a:pt x="554442" y="247650"/>
                  <a:pt x="533400" y="247650"/>
                </a:cubicBezTo>
                <a:lnTo>
                  <a:pt x="38100" y="247650"/>
                </a:lnTo>
                <a:cubicBezTo>
                  <a:pt x="17058" y="247650"/>
                  <a:pt x="0" y="230592"/>
                  <a:pt x="0" y="2095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DC2626">
              <a:alpha val="15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457368" y="2610802"/>
            <a:ext cx="3809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C2626"/>
                </a:solidFill>
                <a:latin typeface="Consolas"/>
                <a:ea typeface="Microsoft YaHei"/>
                <a:cs typeface="Consolas"/>
              </a:rPr>
              <a:t>5985</a:t>
            </a:r>
          </a:p>
        </p:txBody>
      </p:sp>
      <p:sp>
        <p:nvSpPr>
          <p:cNvPr id="20" name="Freeform 20"/>
          <p:cNvSpPr/>
          <p:nvPr/>
        </p:nvSpPr>
        <p:spPr>
          <a:xfrm>
            <a:off x="2009775" y="2552700"/>
            <a:ext cx="571500" cy="247650"/>
          </a:xfrm>
          <a:custGeom>
            <a:avLst/>
            <a:gdLst/>
            <a:ahLst/>
            <a:cxnLst/>
            <a:rect l="l" t="t" r="r" b="b"/>
            <a:pathLst>
              <a:path w="571500" h="247650">
                <a:moveTo>
                  <a:pt x="38100" y="0"/>
                </a:moveTo>
                <a:lnTo>
                  <a:pt x="533400" y="0"/>
                </a:lnTo>
                <a:cubicBezTo>
                  <a:pt x="554442" y="0"/>
                  <a:pt x="571500" y="17058"/>
                  <a:pt x="571500" y="38100"/>
                </a:cubicBezTo>
                <a:lnTo>
                  <a:pt x="571500" y="209550"/>
                </a:lnTo>
                <a:cubicBezTo>
                  <a:pt x="571500" y="230592"/>
                  <a:pt x="554442" y="247650"/>
                  <a:pt x="533400" y="247650"/>
                </a:cubicBezTo>
                <a:lnTo>
                  <a:pt x="38100" y="247650"/>
                </a:lnTo>
                <a:cubicBezTo>
                  <a:pt x="17058" y="247650"/>
                  <a:pt x="0" y="230592"/>
                  <a:pt x="0" y="2095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DC2626">
              <a:alpha val="15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105068" y="2610802"/>
            <a:ext cx="3809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C2626"/>
                </a:solidFill>
                <a:latin typeface="Consolas"/>
                <a:ea typeface="Microsoft YaHei"/>
                <a:cs typeface="Consolas"/>
              </a:rPr>
              <a:t>5986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2945" y="2969895"/>
            <a:ext cx="177107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1B1B"/>
                </a:solidFill>
                <a:latin typeface="Arial"/>
                <a:ea typeface="Microsoft YaHei"/>
                <a:cs typeface="Arial"/>
              </a:rPr>
              <a:t>3389: Windows RDP 远程桌面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02945" y="3160395"/>
            <a:ext cx="19945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1B1B"/>
                </a:solidFill>
                <a:latin typeface="Arial"/>
                <a:ea typeface="Microsoft YaHei"/>
                <a:cs typeface="Arial"/>
              </a:rPr>
              <a:t>5985/5986: WinRM 远程管理服务</a:t>
            </a:r>
          </a:p>
        </p:txBody>
      </p:sp>
      <p:sp>
        <p:nvSpPr>
          <p:cNvPr id="24" name="Freeform 24"/>
          <p:cNvSpPr/>
          <p:nvPr/>
        </p:nvSpPr>
        <p:spPr>
          <a:xfrm>
            <a:off x="714375" y="3409950"/>
            <a:ext cx="571500" cy="190500"/>
          </a:xfrm>
          <a:custGeom>
            <a:avLst/>
            <a:gdLst/>
            <a:ahLst/>
            <a:cxnLst/>
            <a:rect l="l" t="t" r="r" b="b"/>
            <a:pathLst>
              <a:path w="571500" h="190500">
                <a:moveTo>
                  <a:pt x="95250" y="0"/>
                </a:moveTo>
                <a:lnTo>
                  <a:pt x="476250" y="0"/>
                </a:lnTo>
                <a:cubicBezTo>
                  <a:pt x="528855" y="0"/>
                  <a:pt x="571500" y="42645"/>
                  <a:pt x="571500" y="95250"/>
                </a:cubicBezTo>
                <a:lnTo>
                  <a:pt x="571500" y="95250"/>
                </a:lnTo>
                <a:cubicBezTo>
                  <a:pt x="571500" y="147855"/>
                  <a:pt x="528855" y="190500"/>
                  <a:pt x="476250" y="190500"/>
                </a:cubicBezTo>
                <a:lnTo>
                  <a:pt x="95250" y="190500"/>
                </a:lnTo>
                <a:cubicBezTo>
                  <a:pt x="42645" y="190500"/>
                  <a:pt x="0" y="147855"/>
                  <a:pt x="0" y="95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DC262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18078" y="3462338"/>
            <a:ext cx="36409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高风险</a:t>
            </a:r>
          </a:p>
        </p:txBody>
      </p:sp>
      <p:sp>
        <p:nvSpPr>
          <p:cNvPr id="26" name="Freeform 26"/>
          <p:cNvSpPr/>
          <p:nvPr/>
        </p:nvSpPr>
        <p:spPr>
          <a:xfrm>
            <a:off x="6191250" y="1666875"/>
            <a:ext cx="5524500" cy="4381500"/>
          </a:xfrm>
          <a:custGeom>
            <a:avLst/>
            <a:gdLst/>
            <a:ahLst/>
            <a:cxnLst/>
            <a:rect l="l" t="t" r="r" b="b"/>
            <a:pathLst>
              <a:path w="5524500" h="4381500">
                <a:moveTo>
                  <a:pt x="95250" y="0"/>
                </a:moveTo>
                <a:lnTo>
                  <a:pt x="5429250" y="0"/>
                </a:lnTo>
                <a:cubicBezTo>
                  <a:pt x="5481855" y="0"/>
                  <a:pt x="5524500" y="42645"/>
                  <a:pt x="5524500" y="95250"/>
                </a:cubicBezTo>
                <a:lnTo>
                  <a:pt x="5524500" y="4286250"/>
                </a:lnTo>
                <a:cubicBezTo>
                  <a:pt x="5524500" y="4338855"/>
                  <a:pt x="5481855" y="4381500"/>
                  <a:pt x="5429250" y="4381500"/>
                </a:cubicBezTo>
                <a:lnTo>
                  <a:pt x="95250" y="4381500"/>
                </a:lnTo>
                <a:cubicBezTo>
                  <a:pt x="42645" y="4381500"/>
                  <a:pt x="0" y="4338855"/>
                  <a:pt x="0" y="4286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0FDF4"/>
          </a:solidFill>
          <a:ln w="9525">
            <a:solidFill>
              <a:srgbClr val="BBF7D0"/>
            </a:solidFill>
          </a:ln>
        </p:spPr>
      </p:sp>
      <p:sp>
        <p:nvSpPr>
          <p:cNvPr id="27" name="Freeform 27"/>
          <p:cNvSpPr/>
          <p:nvPr/>
        </p:nvSpPr>
        <p:spPr>
          <a:xfrm>
            <a:off x="6191250" y="1666875"/>
            <a:ext cx="5524500" cy="57150"/>
          </a:xfrm>
          <a:custGeom>
            <a:avLst/>
            <a:gdLst/>
            <a:ahLst/>
            <a:cxnLst/>
            <a:rect l="l" t="t" r="r" b="b"/>
            <a:pathLst>
              <a:path w="5524500" h="57150">
                <a:moveTo>
                  <a:pt x="28575" y="0"/>
                </a:moveTo>
                <a:lnTo>
                  <a:pt x="5495925" y="0"/>
                </a:lnTo>
                <a:cubicBezTo>
                  <a:pt x="5511707" y="0"/>
                  <a:pt x="5524500" y="12793"/>
                  <a:pt x="5524500" y="28575"/>
                </a:cubicBezTo>
                <a:lnTo>
                  <a:pt x="5524500" y="28575"/>
                </a:lnTo>
                <a:cubicBezTo>
                  <a:pt x="5524500" y="44357"/>
                  <a:pt x="5511707" y="57150"/>
                  <a:pt x="54959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6429375" y="1952625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76200" y="0"/>
                </a:moveTo>
                <a:lnTo>
                  <a:pt x="342900" y="0"/>
                </a:lnTo>
                <a:cubicBezTo>
                  <a:pt x="384984" y="0"/>
                  <a:pt x="419100" y="34116"/>
                  <a:pt x="419100" y="76200"/>
                </a:cubicBezTo>
                <a:lnTo>
                  <a:pt x="419100" y="342900"/>
                </a:lnTo>
                <a:cubicBezTo>
                  <a:pt x="419100" y="384984"/>
                  <a:pt x="384984" y="419100"/>
                  <a:pt x="3429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548386" y="2050732"/>
            <a:ext cx="18107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984682" y="2005489"/>
            <a:ext cx="814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应对策略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988492" y="2275999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4532D"/>
                </a:solidFill>
                <a:latin typeface="Arial"/>
                <a:ea typeface="Microsoft YaHei"/>
                <a:cs typeface="Arial"/>
              </a:rPr>
              <a:t>分阶段修复，逐步消除公网暴露面</a:t>
            </a:r>
          </a:p>
        </p:txBody>
      </p:sp>
      <p:sp>
        <p:nvSpPr>
          <p:cNvPr id="32" name="Freeform 32"/>
          <p:cNvSpPr/>
          <p:nvPr/>
        </p:nvSpPr>
        <p:spPr>
          <a:xfrm>
            <a:off x="6429375" y="2647950"/>
            <a:ext cx="5048250" cy="1047750"/>
          </a:xfrm>
          <a:custGeom>
            <a:avLst/>
            <a:gdLst/>
            <a:ahLst/>
            <a:cxnLst/>
            <a:rect l="l" t="t" r="r" b="b"/>
            <a:pathLst>
              <a:path w="5048250" h="1047750">
                <a:moveTo>
                  <a:pt x="76200" y="0"/>
                </a:moveTo>
                <a:lnTo>
                  <a:pt x="4972050" y="0"/>
                </a:lnTo>
                <a:cubicBezTo>
                  <a:pt x="5014134" y="0"/>
                  <a:pt x="5048250" y="34116"/>
                  <a:pt x="5048250" y="76200"/>
                </a:cubicBezTo>
                <a:lnTo>
                  <a:pt x="5048250" y="971550"/>
                </a:lnTo>
                <a:cubicBezTo>
                  <a:pt x="5048250" y="1013634"/>
                  <a:pt x="5014134" y="1047750"/>
                  <a:pt x="4972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1FAE5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6429375" y="2647950"/>
            <a:ext cx="57150" cy="10477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6619875" y="2809875"/>
            <a:ext cx="571500" cy="209550"/>
          </a:xfrm>
          <a:custGeom>
            <a:avLst/>
            <a:gdLst/>
            <a:ahLst/>
            <a:cxnLst/>
            <a:rect l="l" t="t" r="r" b="b"/>
            <a:pathLst>
              <a:path w="571500" h="209550">
                <a:moveTo>
                  <a:pt x="38100" y="0"/>
                </a:moveTo>
                <a:lnTo>
                  <a:pt x="533400" y="0"/>
                </a:lnTo>
                <a:cubicBezTo>
                  <a:pt x="554442" y="0"/>
                  <a:pt x="571500" y="17058"/>
                  <a:pt x="571500" y="38100"/>
                </a:cubicBezTo>
                <a:lnTo>
                  <a:pt x="571500" y="171450"/>
                </a:lnTo>
                <a:cubicBezTo>
                  <a:pt x="571500" y="192492"/>
                  <a:pt x="554442" y="209550"/>
                  <a:pt x="533400" y="209550"/>
                </a:cubicBezTo>
                <a:lnTo>
                  <a:pt x="38100" y="209550"/>
                </a:lnTo>
                <a:cubicBezTo>
                  <a:pt x="17058" y="209550"/>
                  <a:pt x="0" y="192492"/>
                  <a:pt x="0" y="1714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EF3C7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768632" y="287321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临时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321868" y="2857024"/>
            <a:ext cx="22376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强密码策略 + 双因素认证（2FA）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08445" y="3093720"/>
            <a:ext cx="33024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立即启用复杂密码策略，要求所有管理员账户开启 2FA，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08445" y="3274695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防止凭证被暴力破解</a:t>
            </a:r>
          </a:p>
        </p:txBody>
      </p:sp>
      <p:sp>
        <p:nvSpPr>
          <p:cNvPr id="39" name="Freeform 39"/>
          <p:cNvSpPr/>
          <p:nvPr/>
        </p:nvSpPr>
        <p:spPr>
          <a:xfrm>
            <a:off x="6429375" y="3810000"/>
            <a:ext cx="5048250" cy="1047750"/>
          </a:xfrm>
          <a:custGeom>
            <a:avLst/>
            <a:gdLst/>
            <a:ahLst/>
            <a:cxnLst/>
            <a:rect l="l" t="t" r="r" b="b"/>
            <a:pathLst>
              <a:path w="5048250" h="1047750">
                <a:moveTo>
                  <a:pt x="76200" y="0"/>
                </a:moveTo>
                <a:lnTo>
                  <a:pt x="4972050" y="0"/>
                </a:lnTo>
                <a:cubicBezTo>
                  <a:pt x="5014134" y="0"/>
                  <a:pt x="5048250" y="34116"/>
                  <a:pt x="5048250" y="76200"/>
                </a:cubicBezTo>
                <a:lnTo>
                  <a:pt x="5048250" y="971550"/>
                </a:lnTo>
                <a:cubicBezTo>
                  <a:pt x="5048250" y="1013634"/>
                  <a:pt x="5014134" y="1047750"/>
                  <a:pt x="4972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1FAE5"/>
            </a:solidFill>
          </a:ln>
        </p:spPr>
      </p:sp>
      <p:sp>
        <p:nvSpPr>
          <p:cNvPr id="40" name="Rectangle 40"/>
          <p:cNvSpPr/>
          <p:nvPr/>
        </p:nvSpPr>
        <p:spPr>
          <a:xfrm>
            <a:off x="6429375" y="3810000"/>
            <a:ext cx="57150" cy="104775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1" name="Freeform 41"/>
          <p:cNvSpPr/>
          <p:nvPr/>
        </p:nvSpPr>
        <p:spPr>
          <a:xfrm>
            <a:off x="6619875" y="3971925"/>
            <a:ext cx="571500" cy="209550"/>
          </a:xfrm>
          <a:custGeom>
            <a:avLst/>
            <a:gdLst/>
            <a:ahLst/>
            <a:cxnLst/>
            <a:rect l="l" t="t" r="r" b="b"/>
            <a:pathLst>
              <a:path w="571500" h="209550">
                <a:moveTo>
                  <a:pt x="38100" y="0"/>
                </a:moveTo>
                <a:lnTo>
                  <a:pt x="533400" y="0"/>
                </a:lnTo>
                <a:cubicBezTo>
                  <a:pt x="554442" y="0"/>
                  <a:pt x="571500" y="17058"/>
                  <a:pt x="571500" y="38100"/>
                </a:cubicBezTo>
                <a:lnTo>
                  <a:pt x="571500" y="171450"/>
                </a:lnTo>
                <a:cubicBezTo>
                  <a:pt x="571500" y="192492"/>
                  <a:pt x="554442" y="209550"/>
                  <a:pt x="533400" y="209550"/>
                </a:cubicBezTo>
                <a:lnTo>
                  <a:pt x="38100" y="209550"/>
                </a:lnTo>
                <a:cubicBezTo>
                  <a:pt x="17058" y="209550"/>
                  <a:pt x="0" y="192492"/>
                  <a:pt x="0" y="1714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768632" y="403526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A56DB"/>
                </a:solidFill>
                <a:latin typeface="Arial"/>
                <a:ea typeface="Microsoft YaHei"/>
                <a:cs typeface="Arial"/>
              </a:rPr>
              <a:t>中期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321868" y="4019074"/>
            <a:ext cx="20357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云端安全组限制管理 IP 白名单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608445" y="4255770"/>
            <a:ext cx="31052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配置华为云安全组规则，仅允许已知可信 IP 地址访问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608445" y="4436745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3389/5985/5986 端口</a:t>
            </a:r>
          </a:p>
        </p:txBody>
      </p:sp>
      <p:sp>
        <p:nvSpPr>
          <p:cNvPr id="46" name="Freeform 46"/>
          <p:cNvSpPr/>
          <p:nvPr/>
        </p:nvSpPr>
        <p:spPr>
          <a:xfrm>
            <a:off x="6429375" y="4972050"/>
            <a:ext cx="5048250" cy="1047750"/>
          </a:xfrm>
          <a:custGeom>
            <a:avLst/>
            <a:gdLst/>
            <a:ahLst/>
            <a:cxnLst/>
            <a:rect l="l" t="t" r="r" b="b"/>
            <a:pathLst>
              <a:path w="5048250" h="1047750">
                <a:moveTo>
                  <a:pt x="76200" y="0"/>
                </a:moveTo>
                <a:lnTo>
                  <a:pt x="4972050" y="0"/>
                </a:lnTo>
                <a:cubicBezTo>
                  <a:pt x="5014134" y="0"/>
                  <a:pt x="5048250" y="34116"/>
                  <a:pt x="5048250" y="76200"/>
                </a:cubicBezTo>
                <a:lnTo>
                  <a:pt x="5048250" y="971550"/>
                </a:lnTo>
                <a:cubicBezTo>
                  <a:pt x="5048250" y="1013634"/>
                  <a:pt x="5014134" y="1047750"/>
                  <a:pt x="4972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1FAE5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6429375" y="4972050"/>
            <a:ext cx="57150" cy="10477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48" name="Freeform 48"/>
          <p:cNvSpPr/>
          <p:nvPr/>
        </p:nvSpPr>
        <p:spPr>
          <a:xfrm>
            <a:off x="6619875" y="5133975"/>
            <a:ext cx="571500" cy="209550"/>
          </a:xfrm>
          <a:custGeom>
            <a:avLst/>
            <a:gdLst/>
            <a:ahLst/>
            <a:cxnLst/>
            <a:rect l="l" t="t" r="r" b="b"/>
            <a:pathLst>
              <a:path w="571500" h="209550">
                <a:moveTo>
                  <a:pt x="38100" y="0"/>
                </a:moveTo>
                <a:lnTo>
                  <a:pt x="533400" y="0"/>
                </a:lnTo>
                <a:cubicBezTo>
                  <a:pt x="554442" y="0"/>
                  <a:pt x="571500" y="17058"/>
                  <a:pt x="571500" y="38100"/>
                </a:cubicBezTo>
                <a:lnTo>
                  <a:pt x="571500" y="171450"/>
                </a:lnTo>
                <a:cubicBezTo>
                  <a:pt x="571500" y="192492"/>
                  <a:pt x="554442" y="209550"/>
                  <a:pt x="533400" y="209550"/>
                </a:cubicBezTo>
                <a:lnTo>
                  <a:pt x="38100" y="209550"/>
                </a:lnTo>
                <a:cubicBezTo>
                  <a:pt x="17058" y="209550"/>
                  <a:pt x="0" y="192492"/>
                  <a:pt x="0" y="1714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768632" y="519731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长期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321868" y="5181124"/>
            <a:ext cx="22600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VPN 内网访问，彻底切断公网暴露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608445" y="5417820"/>
            <a:ext cx="33418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华为云与港华内网 VPN 打通后，关闭所有公网管理端口，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608445" y="5598795"/>
            <a:ext cx="17645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管理员统一通过 VPN 隧道访问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949970" y="6578441"/>
            <a:ext cx="2920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3 / 6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47625"/>
            <a:ext cx="12192000" cy="762000"/>
          </a:xfrm>
          <a:prstGeom prst="rect">
            <a:avLst/>
          </a:prstGeom>
          <a:solidFill>
            <a:srgbClr val="F0F5F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47675" y="309562"/>
            <a:ext cx="321429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系统二 · 电子卡系统</a:t>
            </a:r>
          </a:p>
        </p:txBody>
      </p:sp>
      <p:sp>
        <p:nvSpPr>
          <p:cNvPr id="7" name="Freeform 7"/>
          <p:cNvSpPr/>
          <p:nvPr/>
        </p:nvSpPr>
        <p:spPr>
          <a:xfrm>
            <a:off x="476250" y="952500"/>
            <a:ext cx="952500" cy="247650"/>
          </a:xfrm>
          <a:custGeom>
            <a:avLst/>
            <a:gdLst/>
            <a:ahLst/>
            <a:cxnLst/>
            <a:rect l="l" t="t" r="r" b="b"/>
            <a:pathLst>
              <a:path w="952500" h="247650">
                <a:moveTo>
                  <a:pt x="123825" y="0"/>
                </a:moveTo>
                <a:lnTo>
                  <a:pt x="828675" y="0"/>
                </a:lnTo>
                <a:cubicBezTo>
                  <a:pt x="897062" y="0"/>
                  <a:pt x="952500" y="55438"/>
                  <a:pt x="952500" y="123825"/>
                </a:cubicBezTo>
                <a:lnTo>
                  <a:pt x="952500" y="123825"/>
                </a:lnTo>
                <a:cubicBezTo>
                  <a:pt x="952500" y="192212"/>
                  <a:pt x="897062" y="247650"/>
                  <a:pt x="828675" y="247650"/>
                </a:cubicBezTo>
                <a:lnTo>
                  <a:pt x="123825" y="247650"/>
                </a:lnTo>
                <a:cubicBezTo>
                  <a:pt x="55438" y="247650"/>
                  <a:pt x="0" y="192212"/>
                  <a:pt x="0" y="123825"/>
                </a:cubicBezTo>
                <a:lnTo>
                  <a:pt x="0" y="123825"/>
                </a:lnTo>
                <a:cubicBezTo>
                  <a:pt x="0" y="55438"/>
                  <a:pt x="55438" y="0"/>
                  <a:pt x="123825" y="0"/>
                </a:cubicBezTo>
                <a:close/>
              </a:path>
            </a:pathLst>
          </a:custGeom>
          <a:solidFill>
            <a:srgbClr val="D97706">
              <a:alpha val="1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32059" y="1015841"/>
            <a:ext cx="6408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SYSTEM 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2915" y="1296352"/>
            <a:ext cx="177488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ecard.towngas.com.cn</a:t>
            </a:r>
          </a:p>
        </p:txBody>
      </p:sp>
      <p:sp>
        <p:nvSpPr>
          <p:cNvPr id="10" name="Freeform 10"/>
          <p:cNvSpPr/>
          <p:nvPr/>
        </p:nvSpPr>
        <p:spPr>
          <a:xfrm>
            <a:off x="476250" y="1666875"/>
            <a:ext cx="5524500" cy="2000250"/>
          </a:xfrm>
          <a:custGeom>
            <a:avLst/>
            <a:gdLst/>
            <a:ahLst/>
            <a:cxnLst/>
            <a:rect l="l" t="t" r="r" b="b"/>
            <a:pathLst>
              <a:path w="5524500" h="2000250">
                <a:moveTo>
                  <a:pt x="95250" y="0"/>
                </a:moveTo>
                <a:lnTo>
                  <a:pt x="5429250" y="0"/>
                </a:lnTo>
                <a:cubicBezTo>
                  <a:pt x="5481855" y="0"/>
                  <a:pt x="5524500" y="42645"/>
                  <a:pt x="5524500" y="95250"/>
                </a:cubicBezTo>
                <a:lnTo>
                  <a:pt x="5524500" y="1905000"/>
                </a:lnTo>
                <a:cubicBezTo>
                  <a:pt x="5524500" y="1957605"/>
                  <a:pt x="5481855" y="2000250"/>
                  <a:pt x="5429250" y="2000250"/>
                </a:cubicBezTo>
                <a:lnTo>
                  <a:pt x="95250" y="2000250"/>
                </a:lnTo>
                <a:cubicBezTo>
                  <a:pt x="42645" y="2000250"/>
                  <a:pt x="0" y="1957605"/>
                  <a:pt x="0" y="1905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EF2F2"/>
          </a:solidFill>
          <a:ln w="9525">
            <a:solidFill>
              <a:srgbClr val="FECACA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476250" y="1666875"/>
            <a:ext cx="5524500" cy="57150"/>
          </a:xfrm>
          <a:custGeom>
            <a:avLst/>
            <a:gdLst/>
            <a:ahLst/>
            <a:cxnLst/>
            <a:rect l="l" t="t" r="r" b="b"/>
            <a:pathLst>
              <a:path w="5524500" h="57150">
                <a:moveTo>
                  <a:pt x="28575" y="0"/>
                </a:moveTo>
                <a:lnTo>
                  <a:pt x="5495925" y="0"/>
                </a:lnTo>
                <a:cubicBezTo>
                  <a:pt x="5511707" y="0"/>
                  <a:pt x="5524500" y="12793"/>
                  <a:pt x="5524500" y="28575"/>
                </a:cubicBezTo>
                <a:lnTo>
                  <a:pt x="5524500" y="28575"/>
                </a:lnTo>
                <a:cubicBezTo>
                  <a:pt x="5524500" y="44357"/>
                  <a:pt x="5511707" y="57150"/>
                  <a:pt x="54959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DC2626"/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714375" y="1952625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76200" y="0"/>
                </a:moveTo>
                <a:lnTo>
                  <a:pt x="342900" y="0"/>
                </a:lnTo>
                <a:cubicBezTo>
                  <a:pt x="384984" y="0"/>
                  <a:pt x="419100" y="34116"/>
                  <a:pt x="419100" y="76200"/>
                </a:cubicBezTo>
                <a:lnTo>
                  <a:pt x="419100" y="342900"/>
                </a:lnTo>
                <a:cubicBezTo>
                  <a:pt x="419100" y="384984"/>
                  <a:pt x="384984" y="419100"/>
                  <a:pt x="3429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EE2E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59660" y="2034540"/>
            <a:ext cx="1285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!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69682" y="2005489"/>
            <a:ext cx="814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漏洞说明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3492" y="2275999"/>
            <a:ext cx="27944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F1D1D"/>
                </a:solidFill>
                <a:latin typeface="Arial"/>
                <a:ea typeface="Microsoft YaHei"/>
                <a:cs typeface="Arial"/>
              </a:rPr>
              <a:t>3389 端口（RDP 远程桌面）直接暴露于公网</a:t>
            </a:r>
          </a:p>
        </p:txBody>
      </p:sp>
      <p:sp>
        <p:nvSpPr>
          <p:cNvPr id="16" name="Freeform 16"/>
          <p:cNvSpPr/>
          <p:nvPr/>
        </p:nvSpPr>
        <p:spPr>
          <a:xfrm>
            <a:off x="714375" y="2552700"/>
            <a:ext cx="571500" cy="247650"/>
          </a:xfrm>
          <a:custGeom>
            <a:avLst/>
            <a:gdLst/>
            <a:ahLst/>
            <a:cxnLst/>
            <a:rect l="l" t="t" r="r" b="b"/>
            <a:pathLst>
              <a:path w="571500" h="247650">
                <a:moveTo>
                  <a:pt x="38100" y="0"/>
                </a:moveTo>
                <a:lnTo>
                  <a:pt x="533400" y="0"/>
                </a:lnTo>
                <a:cubicBezTo>
                  <a:pt x="554442" y="0"/>
                  <a:pt x="571500" y="17058"/>
                  <a:pt x="571500" y="38100"/>
                </a:cubicBezTo>
                <a:lnTo>
                  <a:pt x="571500" y="209550"/>
                </a:lnTo>
                <a:cubicBezTo>
                  <a:pt x="571500" y="230592"/>
                  <a:pt x="554442" y="247650"/>
                  <a:pt x="533400" y="247650"/>
                </a:cubicBezTo>
                <a:lnTo>
                  <a:pt x="38100" y="247650"/>
                </a:lnTo>
                <a:cubicBezTo>
                  <a:pt x="17058" y="247650"/>
                  <a:pt x="0" y="230592"/>
                  <a:pt x="0" y="2095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DC2626">
              <a:alpha val="15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09668" y="2610802"/>
            <a:ext cx="3809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C2626"/>
                </a:solidFill>
                <a:latin typeface="Consolas"/>
                <a:ea typeface="Microsoft YaHei"/>
                <a:cs typeface="Consolas"/>
              </a:rPr>
              <a:t>3389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2945" y="2969895"/>
            <a:ext cx="30198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1B1B"/>
                </a:solidFill>
                <a:latin typeface="Arial"/>
                <a:ea typeface="Microsoft YaHei"/>
                <a:cs typeface="Arial"/>
              </a:rPr>
              <a:t>RDP: Windows 远程桌面协议，攻击者常利用该协议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2945" y="3160395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1B1B"/>
                </a:solidFill>
                <a:latin typeface="Arial"/>
                <a:ea typeface="Microsoft YaHei"/>
                <a:cs typeface="Arial"/>
              </a:rPr>
              <a:t>进行口令爆破和横向移动</a:t>
            </a:r>
          </a:p>
        </p:txBody>
      </p:sp>
      <p:sp>
        <p:nvSpPr>
          <p:cNvPr id="20" name="Freeform 20"/>
          <p:cNvSpPr/>
          <p:nvPr/>
        </p:nvSpPr>
        <p:spPr>
          <a:xfrm>
            <a:off x="714375" y="3409950"/>
            <a:ext cx="571500" cy="190500"/>
          </a:xfrm>
          <a:custGeom>
            <a:avLst/>
            <a:gdLst/>
            <a:ahLst/>
            <a:cxnLst/>
            <a:rect l="l" t="t" r="r" b="b"/>
            <a:pathLst>
              <a:path w="571500" h="190500">
                <a:moveTo>
                  <a:pt x="95250" y="0"/>
                </a:moveTo>
                <a:lnTo>
                  <a:pt x="476250" y="0"/>
                </a:lnTo>
                <a:cubicBezTo>
                  <a:pt x="528855" y="0"/>
                  <a:pt x="571500" y="42645"/>
                  <a:pt x="571500" y="95250"/>
                </a:cubicBezTo>
                <a:lnTo>
                  <a:pt x="571500" y="95250"/>
                </a:lnTo>
                <a:cubicBezTo>
                  <a:pt x="571500" y="147855"/>
                  <a:pt x="528855" y="190500"/>
                  <a:pt x="476250" y="190500"/>
                </a:cubicBezTo>
                <a:lnTo>
                  <a:pt x="95250" y="190500"/>
                </a:lnTo>
                <a:cubicBezTo>
                  <a:pt x="42645" y="190500"/>
                  <a:pt x="0" y="147855"/>
                  <a:pt x="0" y="95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DC262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18078" y="3462338"/>
            <a:ext cx="36409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高风险</a:t>
            </a:r>
          </a:p>
        </p:txBody>
      </p:sp>
      <p:sp>
        <p:nvSpPr>
          <p:cNvPr id="22" name="Freeform 22"/>
          <p:cNvSpPr/>
          <p:nvPr/>
        </p:nvSpPr>
        <p:spPr>
          <a:xfrm>
            <a:off x="6191250" y="1666875"/>
            <a:ext cx="5524500" cy="4381500"/>
          </a:xfrm>
          <a:custGeom>
            <a:avLst/>
            <a:gdLst/>
            <a:ahLst/>
            <a:cxnLst/>
            <a:rect l="l" t="t" r="r" b="b"/>
            <a:pathLst>
              <a:path w="5524500" h="4381500">
                <a:moveTo>
                  <a:pt x="95250" y="0"/>
                </a:moveTo>
                <a:lnTo>
                  <a:pt x="5429250" y="0"/>
                </a:lnTo>
                <a:cubicBezTo>
                  <a:pt x="5481855" y="0"/>
                  <a:pt x="5524500" y="42645"/>
                  <a:pt x="5524500" y="95250"/>
                </a:cubicBezTo>
                <a:lnTo>
                  <a:pt x="5524500" y="4286250"/>
                </a:lnTo>
                <a:cubicBezTo>
                  <a:pt x="5524500" y="4338855"/>
                  <a:pt x="5481855" y="4381500"/>
                  <a:pt x="5429250" y="4381500"/>
                </a:cubicBezTo>
                <a:lnTo>
                  <a:pt x="95250" y="4381500"/>
                </a:lnTo>
                <a:cubicBezTo>
                  <a:pt x="42645" y="4381500"/>
                  <a:pt x="0" y="4338855"/>
                  <a:pt x="0" y="4286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0FDF4"/>
          </a:solidFill>
          <a:ln w="9525">
            <a:solidFill>
              <a:srgbClr val="BBF7D0"/>
            </a:solidFill>
          </a:ln>
        </p:spPr>
      </p:sp>
      <p:sp>
        <p:nvSpPr>
          <p:cNvPr id="23" name="Freeform 23"/>
          <p:cNvSpPr/>
          <p:nvPr/>
        </p:nvSpPr>
        <p:spPr>
          <a:xfrm>
            <a:off x="6191250" y="1666875"/>
            <a:ext cx="5524500" cy="57150"/>
          </a:xfrm>
          <a:custGeom>
            <a:avLst/>
            <a:gdLst/>
            <a:ahLst/>
            <a:cxnLst/>
            <a:rect l="l" t="t" r="r" b="b"/>
            <a:pathLst>
              <a:path w="5524500" h="57150">
                <a:moveTo>
                  <a:pt x="28575" y="0"/>
                </a:moveTo>
                <a:lnTo>
                  <a:pt x="5495925" y="0"/>
                </a:lnTo>
                <a:cubicBezTo>
                  <a:pt x="5511707" y="0"/>
                  <a:pt x="5524500" y="12793"/>
                  <a:pt x="5524500" y="28575"/>
                </a:cubicBezTo>
                <a:lnTo>
                  <a:pt x="5524500" y="28575"/>
                </a:lnTo>
                <a:cubicBezTo>
                  <a:pt x="5524500" y="44357"/>
                  <a:pt x="5511707" y="57150"/>
                  <a:pt x="54959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6429375" y="1952625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76200" y="0"/>
                </a:moveTo>
                <a:lnTo>
                  <a:pt x="342900" y="0"/>
                </a:lnTo>
                <a:cubicBezTo>
                  <a:pt x="384984" y="0"/>
                  <a:pt x="419100" y="34116"/>
                  <a:pt x="419100" y="76200"/>
                </a:cubicBezTo>
                <a:lnTo>
                  <a:pt x="419100" y="342900"/>
                </a:lnTo>
                <a:cubicBezTo>
                  <a:pt x="419100" y="384984"/>
                  <a:pt x="384984" y="419100"/>
                  <a:pt x="3429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548386" y="2050732"/>
            <a:ext cx="18107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84682" y="2005489"/>
            <a:ext cx="814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应对策略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988492" y="2275999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4532D"/>
                </a:solidFill>
                <a:latin typeface="Arial"/>
                <a:ea typeface="Microsoft YaHei"/>
                <a:cs typeface="Arial"/>
              </a:rPr>
              <a:t>分阶段修复，逐步消除公网暴露面</a:t>
            </a:r>
          </a:p>
        </p:txBody>
      </p:sp>
      <p:sp>
        <p:nvSpPr>
          <p:cNvPr id="28" name="Freeform 28"/>
          <p:cNvSpPr/>
          <p:nvPr/>
        </p:nvSpPr>
        <p:spPr>
          <a:xfrm>
            <a:off x="6429375" y="2647950"/>
            <a:ext cx="5048250" cy="1047750"/>
          </a:xfrm>
          <a:custGeom>
            <a:avLst/>
            <a:gdLst/>
            <a:ahLst/>
            <a:cxnLst/>
            <a:rect l="l" t="t" r="r" b="b"/>
            <a:pathLst>
              <a:path w="5048250" h="1047750">
                <a:moveTo>
                  <a:pt x="76200" y="0"/>
                </a:moveTo>
                <a:lnTo>
                  <a:pt x="4972050" y="0"/>
                </a:lnTo>
                <a:cubicBezTo>
                  <a:pt x="5014134" y="0"/>
                  <a:pt x="5048250" y="34116"/>
                  <a:pt x="5048250" y="76200"/>
                </a:cubicBezTo>
                <a:lnTo>
                  <a:pt x="5048250" y="971550"/>
                </a:lnTo>
                <a:cubicBezTo>
                  <a:pt x="5048250" y="1013634"/>
                  <a:pt x="5014134" y="1047750"/>
                  <a:pt x="4972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1FAE5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429375" y="2647950"/>
            <a:ext cx="57150" cy="10477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0" name="Freeform 30"/>
          <p:cNvSpPr/>
          <p:nvPr/>
        </p:nvSpPr>
        <p:spPr>
          <a:xfrm>
            <a:off x="6619875" y="2809875"/>
            <a:ext cx="571500" cy="209550"/>
          </a:xfrm>
          <a:custGeom>
            <a:avLst/>
            <a:gdLst/>
            <a:ahLst/>
            <a:cxnLst/>
            <a:rect l="l" t="t" r="r" b="b"/>
            <a:pathLst>
              <a:path w="571500" h="209550">
                <a:moveTo>
                  <a:pt x="38100" y="0"/>
                </a:moveTo>
                <a:lnTo>
                  <a:pt x="533400" y="0"/>
                </a:lnTo>
                <a:cubicBezTo>
                  <a:pt x="554442" y="0"/>
                  <a:pt x="571500" y="17058"/>
                  <a:pt x="571500" y="38100"/>
                </a:cubicBezTo>
                <a:lnTo>
                  <a:pt x="571500" y="171450"/>
                </a:lnTo>
                <a:cubicBezTo>
                  <a:pt x="571500" y="192492"/>
                  <a:pt x="554442" y="209550"/>
                  <a:pt x="533400" y="209550"/>
                </a:cubicBezTo>
                <a:lnTo>
                  <a:pt x="38100" y="209550"/>
                </a:lnTo>
                <a:cubicBezTo>
                  <a:pt x="17058" y="209550"/>
                  <a:pt x="0" y="192492"/>
                  <a:pt x="0" y="1714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EF3C7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768632" y="287321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临时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321868" y="2857024"/>
            <a:ext cx="21329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RDP 强密码策略 + 账户锁定策略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08445" y="3093720"/>
            <a:ext cx="32301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强制要求复杂密码（长度≥12位），设置账户锁定阈值为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08445" y="3274695"/>
            <a:ext cx="16724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5次失败登录，防止暴力破解</a:t>
            </a:r>
          </a:p>
        </p:txBody>
      </p:sp>
      <p:sp>
        <p:nvSpPr>
          <p:cNvPr id="35" name="Freeform 35"/>
          <p:cNvSpPr/>
          <p:nvPr/>
        </p:nvSpPr>
        <p:spPr>
          <a:xfrm>
            <a:off x="6429375" y="3810000"/>
            <a:ext cx="5048250" cy="1047750"/>
          </a:xfrm>
          <a:custGeom>
            <a:avLst/>
            <a:gdLst/>
            <a:ahLst/>
            <a:cxnLst/>
            <a:rect l="l" t="t" r="r" b="b"/>
            <a:pathLst>
              <a:path w="5048250" h="1047750">
                <a:moveTo>
                  <a:pt x="76200" y="0"/>
                </a:moveTo>
                <a:lnTo>
                  <a:pt x="4972050" y="0"/>
                </a:lnTo>
                <a:cubicBezTo>
                  <a:pt x="5014134" y="0"/>
                  <a:pt x="5048250" y="34116"/>
                  <a:pt x="5048250" y="76200"/>
                </a:cubicBezTo>
                <a:lnTo>
                  <a:pt x="5048250" y="971550"/>
                </a:lnTo>
                <a:cubicBezTo>
                  <a:pt x="5048250" y="1013634"/>
                  <a:pt x="5014134" y="1047750"/>
                  <a:pt x="4972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1FAE5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6429375" y="3810000"/>
            <a:ext cx="57150" cy="104775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37" name="Freeform 37"/>
          <p:cNvSpPr/>
          <p:nvPr/>
        </p:nvSpPr>
        <p:spPr>
          <a:xfrm>
            <a:off x="6619875" y="3971925"/>
            <a:ext cx="571500" cy="209550"/>
          </a:xfrm>
          <a:custGeom>
            <a:avLst/>
            <a:gdLst/>
            <a:ahLst/>
            <a:cxnLst/>
            <a:rect l="l" t="t" r="r" b="b"/>
            <a:pathLst>
              <a:path w="571500" h="209550">
                <a:moveTo>
                  <a:pt x="38100" y="0"/>
                </a:moveTo>
                <a:lnTo>
                  <a:pt x="533400" y="0"/>
                </a:lnTo>
                <a:cubicBezTo>
                  <a:pt x="554442" y="0"/>
                  <a:pt x="571500" y="17058"/>
                  <a:pt x="571500" y="38100"/>
                </a:cubicBezTo>
                <a:lnTo>
                  <a:pt x="571500" y="171450"/>
                </a:lnTo>
                <a:cubicBezTo>
                  <a:pt x="571500" y="192492"/>
                  <a:pt x="554442" y="209550"/>
                  <a:pt x="533400" y="209550"/>
                </a:cubicBezTo>
                <a:lnTo>
                  <a:pt x="38100" y="209550"/>
                </a:lnTo>
                <a:cubicBezTo>
                  <a:pt x="17058" y="209550"/>
                  <a:pt x="0" y="192492"/>
                  <a:pt x="0" y="1714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768632" y="403526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A56DB"/>
                </a:solidFill>
                <a:latin typeface="Arial"/>
                <a:ea typeface="Microsoft YaHei"/>
                <a:cs typeface="Arial"/>
              </a:rPr>
              <a:t>中期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321868" y="4019074"/>
            <a:ext cx="238716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云端安全组阻断 3389 公网入站流量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608445" y="4255770"/>
            <a:ext cx="29738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在华为云安全组中配置规则，禁止所有来源 IP 通过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608445" y="4436745"/>
            <a:ext cx="15279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TCP 3389 端口访问服务器</a:t>
            </a:r>
          </a:p>
        </p:txBody>
      </p:sp>
      <p:sp>
        <p:nvSpPr>
          <p:cNvPr id="42" name="Freeform 42"/>
          <p:cNvSpPr/>
          <p:nvPr/>
        </p:nvSpPr>
        <p:spPr>
          <a:xfrm>
            <a:off x="6429375" y="4972050"/>
            <a:ext cx="5048250" cy="1047750"/>
          </a:xfrm>
          <a:custGeom>
            <a:avLst/>
            <a:gdLst/>
            <a:ahLst/>
            <a:cxnLst/>
            <a:rect l="l" t="t" r="r" b="b"/>
            <a:pathLst>
              <a:path w="5048250" h="1047750">
                <a:moveTo>
                  <a:pt x="76200" y="0"/>
                </a:moveTo>
                <a:lnTo>
                  <a:pt x="4972050" y="0"/>
                </a:lnTo>
                <a:cubicBezTo>
                  <a:pt x="5014134" y="0"/>
                  <a:pt x="5048250" y="34116"/>
                  <a:pt x="5048250" y="76200"/>
                </a:cubicBezTo>
                <a:lnTo>
                  <a:pt x="5048250" y="971550"/>
                </a:lnTo>
                <a:cubicBezTo>
                  <a:pt x="5048250" y="1013634"/>
                  <a:pt x="5014134" y="1047750"/>
                  <a:pt x="4972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1FAE5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429375" y="4972050"/>
            <a:ext cx="57150" cy="10477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44" name="Freeform 44"/>
          <p:cNvSpPr/>
          <p:nvPr/>
        </p:nvSpPr>
        <p:spPr>
          <a:xfrm>
            <a:off x="6619875" y="5133975"/>
            <a:ext cx="571500" cy="209550"/>
          </a:xfrm>
          <a:custGeom>
            <a:avLst/>
            <a:gdLst/>
            <a:ahLst/>
            <a:cxnLst/>
            <a:rect l="l" t="t" r="r" b="b"/>
            <a:pathLst>
              <a:path w="571500" h="209550">
                <a:moveTo>
                  <a:pt x="38100" y="0"/>
                </a:moveTo>
                <a:lnTo>
                  <a:pt x="533400" y="0"/>
                </a:lnTo>
                <a:cubicBezTo>
                  <a:pt x="554442" y="0"/>
                  <a:pt x="571500" y="17058"/>
                  <a:pt x="571500" y="38100"/>
                </a:cubicBezTo>
                <a:lnTo>
                  <a:pt x="571500" y="171450"/>
                </a:lnTo>
                <a:cubicBezTo>
                  <a:pt x="571500" y="192492"/>
                  <a:pt x="554442" y="209550"/>
                  <a:pt x="533400" y="209550"/>
                </a:cubicBezTo>
                <a:lnTo>
                  <a:pt x="38100" y="209550"/>
                </a:lnTo>
                <a:cubicBezTo>
                  <a:pt x="17058" y="209550"/>
                  <a:pt x="0" y="192492"/>
                  <a:pt x="0" y="1714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768632" y="519731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长期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321868" y="5181124"/>
            <a:ext cx="20058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华为云 VPN 打通，纯内网访问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608445" y="5417820"/>
            <a:ext cx="29409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VPN 隧道建立后，关闭 RDP 公网入口，管理员通过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608445" y="5598795"/>
            <a:ext cx="17842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VPN 连接的虚拟 IP 访问服务器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949970" y="6578441"/>
            <a:ext cx="2920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4 / 6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47625"/>
            <a:ext cx="12192000" cy="762000"/>
          </a:xfrm>
          <a:prstGeom prst="rect">
            <a:avLst/>
          </a:prstGeom>
          <a:solidFill>
            <a:srgbClr val="F0F5F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47675" y="309562"/>
            <a:ext cx="355933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系统三 · 后台管理系统</a:t>
            </a:r>
          </a:p>
        </p:txBody>
      </p:sp>
      <p:sp>
        <p:nvSpPr>
          <p:cNvPr id="7" name="Freeform 7"/>
          <p:cNvSpPr/>
          <p:nvPr/>
        </p:nvSpPr>
        <p:spPr>
          <a:xfrm>
            <a:off x="476250" y="952500"/>
            <a:ext cx="952500" cy="247650"/>
          </a:xfrm>
          <a:custGeom>
            <a:avLst/>
            <a:gdLst/>
            <a:ahLst/>
            <a:cxnLst/>
            <a:rect l="l" t="t" r="r" b="b"/>
            <a:pathLst>
              <a:path w="952500" h="247650">
                <a:moveTo>
                  <a:pt x="123825" y="0"/>
                </a:moveTo>
                <a:lnTo>
                  <a:pt x="828675" y="0"/>
                </a:lnTo>
                <a:cubicBezTo>
                  <a:pt x="897062" y="0"/>
                  <a:pt x="952500" y="55438"/>
                  <a:pt x="952500" y="123825"/>
                </a:cubicBezTo>
                <a:lnTo>
                  <a:pt x="952500" y="123825"/>
                </a:lnTo>
                <a:cubicBezTo>
                  <a:pt x="952500" y="192212"/>
                  <a:pt x="897062" y="247650"/>
                  <a:pt x="828675" y="247650"/>
                </a:cubicBezTo>
                <a:lnTo>
                  <a:pt x="123825" y="247650"/>
                </a:lnTo>
                <a:cubicBezTo>
                  <a:pt x="55438" y="247650"/>
                  <a:pt x="0" y="192212"/>
                  <a:pt x="0" y="123825"/>
                </a:cubicBezTo>
                <a:lnTo>
                  <a:pt x="0" y="123825"/>
                </a:lnTo>
                <a:cubicBezTo>
                  <a:pt x="0" y="55438"/>
                  <a:pt x="55438" y="0"/>
                  <a:pt x="123825" y="0"/>
                </a:cubicBezTo>
                <a:close/>
              </a:path>
            </a:pathLst>
          </a:custGeom>
          <a:solidFill>
            <a:srgbClr val="D97706">
              <a:alpha val="10000"/>
            </a:srgbClr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632059" y="1015841"/>
            <a:ext cx="6408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SYSTEM 03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2915" y="1296352"/>
            <a:ext cx="26183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Consolas"/>
                <a:ea typeface="Microsoft YaHei"/>
                <a:cs typeface="Consolas"/>
              </a:rPr>
              <a:t>houtai.towngas.com.cn /cmsLogin</a:t>
            </a:r>
          </a:p>
        </p:txBody>
      </p:sp>
      <p:sp>
        <p:nvSpPr>
          <p:cNvPr id="10" name="Freeform 10"/>
          <p:cNvSpPr/>
          <p:nvPr/>
        </p:nvSpPr>
        <p:spPr>
          <a:xfrm>
            <a:off x="476250" y="1666875"/>
            <a:ext cx="5524500" cy="2000250"/>
          </a:xfrm>
          <a:custGeom>
            <a:avLst/>
            <a:gdLst/>
            <a:ahLst/>
            <a:cxnLst/>
            <a:rect l="l" t="t" r="r" b="b"/>
            <a:pathLst>
              <a:path w="5524500" h="2000250">
                <a:moveTo>
                  <a:pt x="95250" y="0"/>
                </a:moveTo>
                <a:lnTo>
                  <a:pt x="5429250" y="0"/>
                </a:lnTo>
                <a:cubicBezTo>
                  <a:pt x="5481855" y="0"/>
                  <a:pt x="5524500" y="42645"/>
                  <a:pt x="5524500" y="95250"/>
                </a:cubicBezTo>
                <a:lnTo>
                  <a:pt x="5524500" y="1905000"/>
                </a:lnTo>
                <a:cubicBezTo>
                  <a:pt x="5524500" y="1957605"/>
                  <a:pt x="5481855" y="2000250"/>
                  <a:pt x="5429250" y="2000250"/>
                </a:cubicBezTo>
                <a:lnTo>
                  <a:pt x="95250" y="2000250"/>
                </a:lnTo>
                <a:cubicBezTo>
                  <a:pt x="42645" y="2000250"/>
                  <a:pt x="0" y="1957605"/>
                  <a:pt x="0" y="1905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EF2F2"/>
          </a:solidFill>
          <a:ln w="9525">
            <a:solidFill>
              <a:srgbClr val="FECACA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476250" y="1666875"/>
            <a:ext cx="5524500" cy="57150"/>
          </a:xfrm>
          <a:custGeom>
            <a:avLst/>
            <a:gdLst/>
            <a:ahLst/>
            <a:cxnLst/>
            <a:rect l="l" t="t" r="r" b="b"/>
            <a:pathLst>
              <a:path w="5524500" h="57150">
                <a:moveTo>
                  <a:pt x="28575" y="0"/>
                </a:moveTo>
                <a:lnTo>
                  <a:pt x="5495925" y="0"/>
                </a:lnTo>
                <a:cubicBezTo>
                  <a:pt x="5511707" y="0"/>
                  <a:pt x="5524500" y="12793"/>
                  <a:pt x="5524500" y="28575"/>
                </a:cubicBezTo>
                <a:lnTo>
                  <a:pt x="5524500" y="28575"/>
                </a:lnTo>
                <a:cubicBezTo>
                  <a:pt x="5524500" y="44357"/>
                  <a:pt x="5511707" y="57150"/>
                  <a:pt x="54959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DC2626"/>
          </a:solidFill>
          <a:ln>
            <a:noFill/>
          </a:ln>
        </p:spPr>
      </p:sp>
      <p:sp>
        <p:nvSpPr>
          <p:cNvPr id="12" name="Freeform 12"/>
          <p:cNvSpPr/>
          <p:nvPr/>
        </p:nvSpPr>
        <p:spPr>
          <a:xfrm>
            <a:off x="714375" y="1952625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76200" y="0"/>
                </a:moveTo>
                <a:lnTo>
                  <a:pt x="342900" y="0"/>
                </a:lnTo>
                <a:cubicBezTo>
                  <a:pt x="384984" y="0"/>
                  <a:pt x="419100" y="34116"/>
                  <a:pt x="419100" y="76200"/>
                </a:cubicBezTo>
                <a:lnTo>
                  <a:pt x="419100" y="342900"/>
                </a:lnTo>
                <a:cubicBezTo>
                  <a:pt x="419100" y="384984"/>
                  <a:pt x="384984" y="419100"/>
                  <a:pt x="3429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EE2E2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59660" y="2034540"/>
            <a:ext cx="1285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!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69682" y="2005489"/>
            <a:ext cx="814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漏洞说明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3492" y="2275999"/>
            <a:ext cx="247402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F1D1D"/>
                </a:solidFill>
                <a:latin typeface="Arial"/>
                <a:ea typeface="Microsoft YaHei"/>
                <a:cs typeface="Arial"/>
              </a:rPr>
              <a:t>/cmsLogin 管理登录页直接暴露于公网</a:t>
            </a:r>
          </a:p>
        </p:txBody>
      </p:sp>
      <p:sp>
        <p:nvSpPr>
          <p:cNvPr id="16" name="Freeform 16"/>
          <p:cNvSpPr/>
          <p:nvPr/>
        </p:nvSpPr>
        <p:spPr>
          <a:xfrm>
            <a:off x="714375" y="2552700"/>
            <a:ext cx="1524000" cy="247650"/>
          </a:xfrm>
          <a:custGeom>
            <a:avLst/>
            <a:gdLst/>
            <a:ahLst/>
            <a:cxnLst/>
            <a:rect l="l" t="t" r="r" b="b"/>
            <a:pathLst>
              <a:path w="1524000" h="247650">
                <a:moveTo>
                  <a:pt x="38100" y="0"/>
                </a:moveTo>
                <a:lnTo>
                  <a:pt x="1485900" y="0"/>
                </a:lnTo>
                <a:cubicBezTo>
                  <a:pt x="1506942" y="0"/>
                  <a:pt x="1524000" y="17058"/>
                  <a:pt x="1524000" y="38100"/>
                </a:cubicBezTo>
                <a:lnTo>
                  <a:pt x="1524000" y="209550"/>
                </a:lnTo>
                <a:cubicBezTo>
                  <a:pt x="1524000" y="230592"/>
                  <a:pt x="1506942" y="247650"/>
                  <a:pt x="1485900" y="247650"/>
                </a:cubicBezTo>
                <a:lnTo>
                  <a:pt x="38100" y="247650"/>
                </a:lnTo>
                <a:cubicBezTo>
                  <a:pt x="17058" y="247650"/>
                  <a:pt x="0" y="230592"/>
                  <a:pt x="0" y="2095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DC2626">
              <a:alpha val="15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81832" y="2618899"/>
            <a:ext cx="178908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DC2626"/>
                </a:solidFill>
                <a:latin typeface="Consolas"/>
                <a:ea typeface="Microsoft YaHei"/>
                <a:cs typeface="Consolas"/>
              </a:rPr>
              <a:t>/cmsLogin?redirect=%2F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2945" y="2969895"/>
            <a:ext cx="29146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1B1B"/>
                </a:solidFill>
                <a:latin typeface="Arial"/>
                <a:ea typeface="Microsoft YaHei"/>
                <a:cs typeface="Arial"/>
              </a:rPr>
              <a:t>攻击者可利用该路径直接访问后台管理登录页面，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02945" y="3160395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91B1B"/>
                </a:solidFill>
                <a:latin typeface="Arial"/>
                <a:ea typeface="Microsoft YaHei"/>
                <a:cs typeface="Arial"/>
              </a:rPr>
              <a:t>通过弱口令或社工手段获取管理权限</a:t>
            </a:r>
          </a:p>
        </p:txBody>
      </p:sp>
      <p:sp>
        <p:nvSpPr>
          <p:cNvPr id="20" name="Freeform 20"/>
          <p:cNvSpPr/>
          <p:nvPr/>
        </p:nvSpPr>
        <p:spPr>
          <a:xfrm>
            <a:off x="714375" y="3409950"/>
            <a:ext cx="571500" cy="190500"/>
          </a:xfrm>
          <a:custGeom>
            <a:avLst/>
            <a:gdLst/>
            <a:ahLst/>
            <a:cxnLst/>
            <a:rect l="l" t="t" r="r" b="b"/>
            <a:pathLst>
              <a:path w="571500" h="190500">
                <a:moveTo>
                  <a:pt x="95250" y="0"/>
                </a:moveTo>
                <a:lnTo>
                  <a:pt x="476250" y="0"/>
                </a:lnTo>
                <a:cubicBezTo>
                  <a:pt x="528855" y="0"/>
                  <a:pt x="571500" y="42645"/>
                  <a:pt x="571500" y="95250"/>
                </a:cubicBezTo>
                <a:lnTo>
                  <a:pt x="571500" y="95250"/>
                </a:lnTo>
                <a:cubicBezTo>
                  <a:pt x="571500" y="147855"/>
                  <a:pt x="528855" y="190500"/>
                  <a:pt x="476250" y="190500"/>
                </a:cubicBezTo>
                <a:lnTo>
                  <a:pt x="95250" y="190500"/>
                </a:lnTo>
                <a:cubicBezTo>
                  <a:pt x="42645" y="190500"/>
                  <a:pt x="0" y="147855"/>
                  <a:pt x="0" y="95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DC2626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18078" y="3462338"/>
            <a:ext cx="36409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高风险</a:t>
            </a:r>
          </a:p>
        </p:txBody>
      </p:sp>
      <p:sp>
        <p:nvSpPr>
          <p:cNvPr id="22" name="Freeform 22"/>
          <p:cNvSpPr/>
          <p:nvPr/>
        </p:nvSpPr>
        <p:spPr>
          <a:xfrm>
            <a:off x="6191250" y="1666875"/>
            <a:ext cx="5524500" cy="4381500"/>
          </a:xfrm>
          <a:custGeom>
            <a:avLst/>
            <a:gdLst/>
            <a:ahLst/>
            <a:cxnLst/>
            <a:rect l="l" t="t" r="r" b="b"/>
            <a:pathLst>
              <a:path w="5524500" h="4381500">
                <a:moveTo>
                  <a:pt x="95250" y="0"/>
                </a:moveTo>
                <a:lnTo>
                  <a:pt x="5429250" y="0"/>
                </a:lnTo>
                <a:cubicBezTo>
                  <a:pt x="5481855" y="0"/>
                  <a:pt x="5524500" y="42645"/>
                  <a:pt x="5524500" y="95250"/>
                </a:cubicBezTo>
                <a:lnTo>
                  <a:pt x="5524500" y="4286250"/>
                </a:lnTo>
                <a:cubicBezTo>
                  <a:pt x="5524500" y="4338855"/>
                  <a:pt x="5481855" y="4381500"/>
                  <a:pt x="5429250" y="4381500"/>
                </a:cubicBezTo>
                <a:lnTo>
                  <a:pt x="95250" y="4381500"/>
                </a:lnTo>
                <a:cubicBezTo>
                  <a:pt x="42645" y="4381500"/>
                  <a:pt x="0" y="4338855"/>
                  <a:pt x="0" y="4286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0FDF4"/>
          </a:solidFill>
          <a:ln w="9525">
            <a:solidFill>
              <a:srgbClr val="BBF7D0"/>
            </a:solidFill>
          </a:ln>
        </p:spPr>
      </p:sp>
      <p:sp>
        <p:nvSpPr>
          <p:cNvPr id="23" name="Freeform 23"/>
          <p:cNvSpPr/>
          <p:nvPr/>
        </p:nvSpPr>
        <p:spPr>
          <a:xfrm>
            <a:off x="6191250" y="1666875"/>
            <a:ext cx="5524500" cy="57150"/>
          </a:xfrm>
          <a:custGeom>
            <a:avLst/>
            <a:gdLst/>
            <a:ahLst/>
            <a:cxnLst/>
            <a:rect l="l" t="t" r="r" b="b"/>
            <a:pathLst>
              <a:path w="5524500" h="57150">
                <a:moveTo>
                  <a:pt x="28575" y="0"/>
                </a:moveTo>
                <a:lnTo>
                  <a:pt x="5495925" y="0"/>
                </a:lnTo>
                <a:cubicBezTo>
                  <a:pt x="5511707" y="0"/>
                  <a:pt x="5524500" y="12793"/>
                  <a:pt x="5524500" y="28575"/>
                </a:cubicBezTo>
                <a:lnTo>
                  <a:pt x="5524500" y="28575"/>
                </a:lnTo>
                <a:cubicBezTo>
                  <a:pt x="5524500" y="44357"/>
                  <a:pt x="5511707" y="57150"/>
                  <a:pt x="54959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6A34A"/>
          </a:solidFill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6429375" y="1952625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76200" y="0"/>
                </a:moveTo>
                <a:lnTo>
                  <a:pt x="342900" y="0"/>
                </a:lnTo>
                <a:cubicBezTo>
                  <a:pt x="384984" y="0"/>
                  <a:pt x="419100" y="34116"/>
                  <a:pt x="419100" y="76200"/>
                </a:cubicBezTo>
                <a:lnTo>
                  <a:pt x="419100" y="342900"/>
                </a:lnTo>
                <a:cubicBezTo>
                  <a:pt x="419100" y="384984"/>
                  <a:pt x="384984" y="419100"/>
                  <a:pt x="3429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548386" y="2050732"/>
            <a:ext cx="18107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✓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84682" y="2005489"/>
            <a:ext cx="81448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应对策略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988492" y="2275999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4532D"/>
                </a:solidFill>
                <a:latin typeface="Arial"/>
                <a:ea typeface="Microsoft YaHei"/>
                <a:cs typeface="Arial"/>
              </a:rPr>
              <a:t>分阶段修复，逐步消除公网暴露面</a:t>
            </a:r>
          </a:p>
        </p:txBody>
      </p:sp>
      <p:sp>
        <p:nvSpPr>
          <p:cNvPr id="28" name="Freeform 28"/>
          <p:cNvSpPr/>
          <p:nvPr/>
        </p:nvSpPr>
        <p:spPr>
          <a:xfrm>
            <a:off x="6429375" y="2647950"/>
            <a:ext cx="5048250" cy="1047750"/>
          </a:xfrm>
          <a:custGeom>
            <a:avLst/>
            <a:gdLst/>
            <a:ahLst/>
            <a:cxnLst/>
            <a:rect l="l" t="t" r="r" b="b"/>
            <a:pathLst>
              <a:path w="5048250" h="1047750">
                <a:moveTo>
                  <a:pt x="76200" y="0"/>
                </a:moveTo>
                <a:lnTo>
                  <a:pt x="4972050" y="0"/>
                </a:lnTo>
                <a:cubicBezTo>
                  <a:pt x="5014134" y="0"/>
                  <a:pt x="5048250" y="34116"/>
                  <a:pt x="5048250" y="76200"/>
                </a:cubicBezTo>
                <a:lnTo>
                  <a:pt x="5048250" y="971550"/>
                </a:lnTo>
                <a:cubicBezTo>
                  <a:pt x="5048250" y="1013634"/>
                  <a:pt x="5014134" y="1047750"/>
                  <a:pt x="4972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1FAE5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429375" y="2647950"/>
            <a:ext cx="57150" cy="104775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0" name="Freeform 30"/>
          <p:cNvSpPr/>
          <p:nvPr/>
        </p:nvSpPr>
        <p:spPr>
          <a:xfrm>
            <a:off x="6619875" y="2809875"/>
            <a:ext cx="571500" cy="209550"/>
          </a:xfrm>
          <a:custGeom>
            <a:avLst/>
            <a:gdLst/>
            <a:ahLst/>
            <a:cxnLst/>
            <a:rect l="l" t="t" r="r" b="b"/>
            <a:pathLst>
              <a:path w="571500" h="209550">
                <a:moveTo>
                  <a:pt x="38100" y="0"/>
                </a:moveTo>
                <a:lnTo>
                  <a:pt x="533400" y="0"/>
                </a:lnTo>
                <a:cubicBezTo>
                  <a:pt x="554442" y="0"/>
                  <a:pt x="571500" y="17058"/>
                  <a:pt x="571500" y="38100"/>
                </a:cubicBezTo>
                <a:lnTo>
                  <a:pt x="571500" y="171450"/>
                </a:lnTo>
                <a:cubicBezTo>
                  <a:pt x="571500" y="192492"/>
                  <a:pt x="554442" y="209550"/>
                  <a:pt x="533400" y="209550"/>
                </a:cubicBezTo>
                <a:lnTo>
                  <a:pt x="38100" y="209550"/>
                </a:lnTo>
                <a:cubicBezTo>
                  <a:pt x="17058" y="209550"/>
                  <a:pt x="0" y="192492"/>
                  <a:pt x="0" y="1714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EF3C7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768632" y="287321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临时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321868" y="2857024"/>
            <a:ext cx="19909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后台路径随机化 + 强制强认证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08445" y="3093720"/>
            <a:ext cx="341414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将 /cmsLogin 路径改为随机化路径（如 /admin-a7x2），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08445" y="3274695"/>
            <a:ext cx="19945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降低被自动化扫描工具发现的概率</a:t>
            </a:r>
          </a:p>
        </p:txBody>
      </p:sp>
      <p:sp>
        <p:nvSpPr>
          <p:cNvPr id="35" name="Freeform 35"/>
          <p:cNvSpPr/>
          <p:nvPr/>
        </p:nvSpPr>
        <p:spPr>
          <a:xfrm>
            <a:off x="6429375" y="3810000"/>
            <a:ext cx="5048250" cy="1047750"/>
          </a:xfrm>
          <a:custGeom>
            <a:avLst/>
            <a:gdLst/>
            <a:ahLst/>
            <a:cxnLst/>
            <a:rect l="l" t="t" r="r" b="b"/>
            <a:pathLst>
              <a:path w="5048250" h="1047750">
                <a:moveTo>
                  <a:pt x="76200" y="0"/>
                </a:moveTo>
                <a:lnTo>
                  <a:pt x="4972050" y="0"/>
                </a:lnTo>
                <a:cubicBezTo>
                  <a:pt x="5014134" y="0"/>
                  <a:pt x="5048250" y="34116"/>
                  <a:pt x="5048250" y="76200"/>
                </a:cubicBezTo>
                <a:lnTo>
                  <a:pt x="5048250" y="971550"/>
                </a:lnTo>
                <a:cubicBezTo>
                  <a:pt x="5048250" y="1013634"/>
                  <a:pt x="5014134" y="1047750"/>
                  <a:pt x="4972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1FAE5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6429375" y="3810000"/>
            <a:ext cx="57150" cy="104775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37" name="Freeform 37"/>
          <p:cNvSpPr/>
          <p:nvPr/>
        </p:nvSpPr>
        <p:spPr>
          <a:xfrm>
            <a:off x="6619875" y="3971925"/>
            <a:ext cx="571500" cy="209550"/>
          </a:xfrm>
          <a:custGeom>
            <a:avLst/>
            <a:gdLst/>
            <a:ahLst/>
            <a:cxnLst/>
            <a:rect l="l" t="t" r="r" b="b"/>
            <a:pathLst>
              <a:path w="571500" h="209550">
                <a:moveTo>
                  <a:pt x="38100" y="0"/>
                </a:moveTo>
                <a:lnTo>
                  <a:pt x="533400" y="0"/>
                </a:lnTo>
                <a:cubicBezTo>
                  <a:pt x="554442" y="0"/>
                  <a:pt x="571500" y="17058"/>
                  <a:pt x="571500" y="38100"/>
                </a:cubicBezTo>
                <a:lnTo>
                  <a:pt x="571500" y="171450"/>
                </a:lnTo>
                <a:cubicBezTo>
                  <a:pt x="571500" y="192492"/>
                  <a:pt x="554442" y="209550"/>
                  <a:pt x="533400" y="209550"/>
                </a:cubicBezTo>
                <a:lnTo>
                  <a:pt x="38100" y="209550"/>
                </a:lnTo>
                <a:cubicBezTo>
                  <a:pt x="17058" y="209550"/>
                  <a:pt x="0" y="192492"/>
                  <a:pt x="0" y="1714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6768632" y="403526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A56DB"/>
                </a:solidFill>
                <a:latin typeface="Arial"/>
                <a:ea typeface="Microsoft YaHei"/>
                <a:cs typeface="Arial"/>
              </a:rPr>
              <a:t>中期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321868" y="4019074"/>
            <a:ext cx="16171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接入双因素认证（2FA）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608445" y="4255770"/>
            <a:ext cx="29475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所有管理后台账户强制启用短信或邮箱 2FA 验证，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608445" y="4436745"/>
            <a:ext cx="19945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即使密码泄露也能防止账户被接管</a:t>
            </a:r>
          </a:p>
        </p:txBody>
      </p:sp>
      <p:sp>
        <p:nvSpPr>
          <p:cNvPr id="42" name="Freeform 42"/>
          <p:cNvSpPr/>
          <p:nvPr/>
        </p:nvSpPr>
        <p:spPr>
          <a:xfrm>
            <a:off x="6429375" y="4972050"/>
            <a:ext cx="5048250" cy="1047750"/>
          </a:xfrm>
          <a:custGeom>
            <a:avLst/>
            <a:gdLst/>
            <a:ahLst/>
            <a:cxnLst/>
            <a:rect l="l" t="t" r="r" b="b"/>
            <a:pathLst>
              <a:path w="5048250" h="1047750">
                <a:moveTo>
                  <a:pt x="76200" y="0"/>
                </a:moveTo>
                <a:lnTo>
                  <a:pt x="4972050" y="0"/>
                </a:lnTo>
                <a:cubicBezTo>
                  <a:pt x="5014134" y="0"/>
                  <a:pt x="5048250" y="34116"/>
                  <a:pt x="5048250" y="76200"/>
                </a:cubicBezTo>
                <a:lnTo>
                  <a:pt x="5048250" y="971550"/>
                </a:lnTo>
                <a:cubicBezTo>
                  <a:pt x="5048250" y="1013634"/>
                  <a:pt x="5014134" y="1047750"/>
                  <a:pt x="4972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D1FAE5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429375" y="4972050"/>
            <a:ext cx="57150" cy="10477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44" name="Freeform 44"/>
          <p:cNvSpPr/>
          <p:nvPr/>
        </p:nvSpPr>
        <p:spPr>
          <a:xfrm>
            <a:off x="6619875" y="5133975"/>
            <a:ext cx="571500" cy="209550"/>
          </a:xfrm>
          <a:custGeom>
            <a:avLst/>
            <a:gdLst/>
            <a:ahLst/>
            <a:cxnLst/>
            <a:rect l="l" t="t" r="r" b="b"/>
            <a:pathLst>
              <a:path w="571500" h="209550">
                <a:moveTo>
                  <a:pt x="38100" y="0"/>
                </a:moveTo>
                <a:lnTo>
                  <a:pt x="533400" y="0"/>
                </a:lnTo>
                <a:cubicBezTo>
                  <a:pt x="554442" y="0"/>
                  <a:pt x="571500" y="17058"/>
                  <a:pt x="571500" y="38100"/>
                </a:cubicBezTo>
                <a:lnTo>
                  <a:pt x="571500" y="171450"/>
                </a:lnTo>
                <a:cubicBezTo>
                  <a:pt x="571500" y="192492"/>
                  <a:pt x="554442" y="209550"/>
                  <a:pt x="533400" y="209550"/>
                </a:cubicBezTo>
                <a:lnTo>
                  <a:pt x="38100" y="209550"/>
                </a:lnTo>
                <a:cubicBezTo>
                  <a:pt x="17058" y="209550"/>
                  <a:pt x="0" y="192492"/>
                  <a:pt x="0" y="1714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768632" y="5197316"/>
            <a:ext cx="27398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长期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321868" y="5181124"/>
            <a:ext cx="22600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VPN 内网访问，移除公网登录入口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608445" y="5417820"/>
            <a:ext cx="277663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VPN 打通后，将后台登录页面从公网完全移除，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608445" y="5598795"/>
            <a:ext cx="18959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仅允许通过 VPN 隧道从内网访问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949970" y="6578441"/>
            <a:ext cx="2920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5 / 6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0"/>
            <a:ext cx="47625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47625"/>
            <a:ext cx="12192000" cy="762000"/>
          </a:xfrm>
          <a:prstGeom prst="rect">
            <a:avLst/>
          </a:prstGeom>
          <a:solidFill>
            <a:srgbClr val="F0F5F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47675" y="309562"/>
            <a:ext cx="3162538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治本方案与整改计划</a:t>
            </a:r>
          </a:p>
        </p:txBody>
      </p:sp>
      <p:sp>
        <p:nvSpPr>
          <p:cNvPr id="7" name="Freeform 7"/>
          <p:cNvSpPr/>
          <p:nvPr/>
        </p:nvSpPr>
        <p:spPr>
          <a:xfrm>
            <a:off x="476250" y="1000125"/>
            <a:ext cx="4953000" cy="1238250"/>
          </a:xfrm>
          <a:custGeom>
            <a:avLst/>
            <a:gdLst/>
            <a:ahLst/>
            <a:cxnLst/>
            <a:rect l="l" t="t" r="r" b="b"/>
            <a:pathLst>
              <a:path w="4953000" h="1238250">
                <a:moveTo>
                  <a:pt x="95250" y="0"/>
                </a:moveTo>
                <a:lnTo>
                  <a:pt x="4857750" y="0"/>
                </a:lnTo>
                <a:cubicBezTo>
                  <a:pt x="4910355" y="0"/>
                  <a:pt x="4953000" y="42645"/>
                  <a:pt x="4953000" y="95250"/>
                </a:cubicBezTo>
                <a:lnTo>
                  <a:pt x="4953000" y="1143000"/>
                </a:lnTo>
                <a:cubicBezTo>
                  <a:pt x="4953000" y="1195605"/>
                  <a:pt x="4910355" y="1238250"/>
                  <a:pt x="4857750" y="1238250"/>
                </a:cubicBezTo>
                <a:lnTo>
                  <a:pt x="95250" y="1238250"/>
                </a:lnTo>
                <a:cubicBezTo>
                  <a:pt x="42645" y="1238250"/>
                  <a:pt x="0" y="1195605"/>
                  <a:pt x="0" y="11430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EF2F2"/>
          </a:solidFill>
          <a:ln w="9525">
            <a:solidFill>
              <a:srgbClr val="FECACA"/>
            </a:solidFill>
          </a:ln>
        </p:spPr>
      </p:sp>
      <p:sp>
        <p:nvSpPr>
          <p:cNvPr id="8" name="Freeform 8"/>
          <p:cNvSpPr/>
          <p:nvPr/>
        </p:nvSpPr>
        <p:spPr>
          <a:xfrm>
            <a:off x="476250" y="1000125"/>
            <a:ext cx="4953000" cy="47625"/>
          </a:xfrm>
          <a:custGeom>
            <a:avLst/>
            <a:gdLst/>
            <a:ahLst/>
            <a:cxnLst/>
            <a:rect l="l" t="t" r="r" b="b"/>
            <a:pathLst>
              <a:path w="4953000" h="47625">
                <a:moveTo>
                  <a:pt x="28575" y="0"/>
                </a:moveTo>
                <a:lnTo>
                  <a:pt x="4924425" y="0"/>
                </a:lnTo>
                <a:cubicBezTo>
                  <a:pt x="4940207" y="0"/>
                  <a:pt x="4953000" y="10661"/>
                  <a:pt x="4953000" y="23812"/>
                </a:cubicBezTo>
                <a:lnTo>
                  <a:pt x="4953000" y="23812"/>
                </a:lnTo>
                <a:cubicBezTo>
                  <a:pt x="4953000" y="36964"/>
                  <a:pt x="4940207" y="47625"/>
                  <a:pt x="4924425" y="47625"/>
                </a:cubicBezTo>
                <a:lnTo>
                  <a:pt x="28575" y="47625"/>
                </a:lnTo>
                <a:cubicBezTo>
                  <a:pt x="12793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2793" y="0"/>
                  <a:pt x="28575" y="0"/>
                </a:cubicBezTo>
                <a:close/>
              </a:path>
            </a:pathLst>
          </a:custGeom>
          <a:solidFill>
            <a:srgbClr val="DC2626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714375" y="1219200"/>
            <a:ext cx="419100" cy="419100"/>
          </a:xfrm>
          <a:custGeom>
            <a:avLst/>
            <a:gdLst/>
            <a:ahLst/>
            <a:cxnLst/>
            <a:rect l="l" t="t" r="r" b="b"/>
            <a:pathLst>
              <a:path w="419100" h="419100">
                <a:moveTo>
                  <a:pt x="76200" y="0"/>
                </a:moveTo>
                <a:lnTo>
                  <a:pt x="342900" y="0"/>
                </a:lnTo>
                <a:cubicBezTo>
                  <a:pt x="384984" y="0"/>
                  <a:pt x="419100" y="34116"/>
                  <a:pt x="419100" y="76200"/>
                </a:cubicBezTo>
                <a:lnTo>
                  <a:pt x="419100" y="342900"/>
                </a:lnTo>
                <a:cubicBezTo>
                  <a:pt x="419100" y="384984"/>
                  <a:pt x="384984" y="419100"/>
                  <a:pt x="342900" y="419100"/>
                </a:cubicBezTo>
                <a:lnTo>
                  <a:pt x="76200" y="419100"/>
                </a:lnTo>
                <a:cubicBezTo>
                  <a:pt x="34116" y="419100"/>
                  <a:pt x="0" y="384984"/>
                  <a:pt x="0" y="3429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EE2E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70371" y="1333500"/>
            <a:ext cx="10710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!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1588" y="128825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根本原因分析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02945" y="1617345"/>
            <a:ext cx="19945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1D1D"/>
                </a:solidFill>
                <a:latin typeface="Arial"/>
                <a:ea typeface="Microsoft YaHei"/>
                <a:cs typeface="Arial"/>
              </a:rPr>
              <a:t>管理端口与业务端口共用公网出口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2945" y="1788795"/>
            <a:ext cx="25203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1D1D"/>
                </a:solidFill>
                <a:latin typeface="Arial"/>
                <a:ea typeface="Microsoft YaHei"/>
                <a:cs typeface="Arial"/>
              </a:rPr>
              <a:t>缺乏分层防御架构，管理后台直接暴露公网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2945" y="1960245"/>
            <a:ext cx="240858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F1D1D"/>
                </a:solidFill>
                <a:latin typeface="Arial"/>
                <a:ea typeface="Microsoft YaHei"/>
                <a:cs typeface="Arial"/>
              </a:rPr>
              <a:t>三个系统均面向互联网，无法限定访问 IP</a:t>
            </a:r>
          </a:p>
        </p:txBody>
      </p:sp>
      <p:sp>
        <p:nvSpPr>
          <p:cNvPr id="15" name="Freeform 15"/>
          <p:cNvSpPr/>
          <p:nvPr/>
        </p:nvSpPr>
        <p:spPr>
          <a:xfrm>
            <a:off x="476250" y="2381250"/>
            <a:ext cx="4953000" cy="1905000"/>
          </a:xfrm>
          <a:custGeom>
            <a:avLst/>
            <a:gdLst/>
            <a:ahLst/>
            <a:cxnLst/>
            <a:rect l="l" t="t" r="r" b="b"/>
            <a:pathLst>
              <a:path w="4953000" h="1905000">
                <a:moveTo>
                  <a:pt x="95250" y="0"/>
                </a:moveTo>
                <a:lnTo>
                  <a:pt x="4857750" y="0"/>
                </a:lnTo>
                <a:cubicBezTo>
                  <a:pt x="4910355" y="0"/>
                  <a:pt x="4953000" y="42645"/>
                  <a:pt x="4953000" y="95250"/>
                </a:cubicBezTo>
                <a:lnTo>
                  <a:pt x="4953000" y="1809750"/>
                </a:lnTo>
                <a:cubicBezTo>
                  <a:pt x="4953000" y="1862355"/>
                  <a:pt x="4910355" y="1905000"/>
                  <a:pt x="4857750" y="1905000"/>
                </a:cubicBezTo>
                <a:lnTo>
                  <a:pt x="95250" y="1905000"/>
                </a:lnTo>
                <a:cubicBezTo>
                  <a:pt x="42645" y="1905000"/>
                  <a:pt x="0" y="1862355"/>
                  <a:pt x="0" y="18097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EFF6FF"/>
          </a:solidFill>
          <a:ln w="9525">
            <a:solidFill>
              <a:srgbClr val="BFDBFE"/>
            </a:solidFill>
          </a:ln>
        </p:spPr>
      </p:sp>
      <p:sp>
        <p:nvSpPr>
          <p:cNvPr id="16" name="Freeform 16"/>
          <p:cNvSpPr/>
          <p:nvPr/>
        </p:nvSpPr>
        <p:spPr>
          <a:xfrm>
            <a:off x="476250" y="2381250"/>
            <a:ext cx="4953000" cy="47625"/>
          </a:xfrm>
          <a:custGeom>
            <a:avLst/>
            <a:gdLst/>
            <a:ahLst/>
            <a:cxnLst/>
            <a:rect l="l" t="t" r="r" b="b"/>
            <a:pathLst>
              <a:path w="4953000" h="47625">
                <a:moveTo>
                  <a:pt x="28575" y="0"/>
                </a:moveTo>
                <a:lnTo>
                  <a:pt x="4924425" y="0"/>
                </a:lnTo>
                <a:cubicBezTo>
                  <a:pt x="4940207" y="0"/>
                  <a:pt x="4953000" y="10661"/>
                  <a:pt x="4953000" y="23812"/>
                </a:cubicBezTo>
                <a:lnTo>
                  <a:pt x="4953000" y="23812"/>
                </a:lnTo>
                <a:cubicBezTo>
                  <a:pt x="4953000" y="36964"/>
                  <a:pt x="4940207" y="47625"/>
                  <a:pt x="4924425" y="47625"/>
                </a:cubicBezTo>
                <a:lnTo>
                  <a:pt x="28575" y="47625"/>
                </a:lnTo>
                <a:cubicBezTo>
                  <a:pt x="12793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2793" y="0"/>
                  <a:pt x="28575" y="0"/>
                </a:cubicBezTo>
                <a:close/>
              </a:path>
            </a:pathLst>
          </a:custGeom>
          <a:solidFill>
            <a:srgbClr val="1A56DB"/>
          </a:solidFill>
          <a:ln>
            <a:noFill/>
          </a:ln>
        </p:spPr>
      </p:sp>
      <p:sp>
        <p:nvSpPr>
          <p:cNvPr id="17" name="Freeform 17"/>
          <p:cNvSpPr/>
          <p:nvPr/>
        </p:nvSpPr>
        <p:spPr>
          <a:xfrm>
            <a:off x="714375" y="26479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95250" y="0"/>
                </a:moveTo>
                <a:lnTo>
                  <a:pt x="361950" y="0"/>
                </a:lnTo>
                <a:cubicBezTo>
                  <a:pt x="414555" y="0"/>
                  <a:pt x="457200" y="42645"/>
                  <a:pt x="457200" y="95250"/>
                </a:cubicBezTo>
                <a:lnTo>
                  <a:pt x="457200" y="361950"/>
                </a:lnTo>
                <a:cubicBezTo>
                  <a:pt x="457200" y="414555"/>
                  <a:pt x="414555" y="457200"/>
                  <a:pt x="361950" y="457200"/>
                </a:cubicBezTo>
                <a:lnTo>
                  <a:pt x="95250" y="457200"/>
                </a:lnTo>
                <a:cubicBezTo>
                  <a:pt x="42645" y="457200"/>
                  <a:pt x="0" y="414555"/>
                  <a:pt x="0" y="3619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790575" y="2762250"/>
            <a:ext cx="114300" cy="76200"/>
          </a:xfrm>
          <a:custGeom>
            <a:avLst/>
            <a:gdLst/>
            <a:ahLst/>
            <a:cxnLst/>
            <a:rect l="l" t="t" r="r" b="b"/>
            <a:pathLst>
              <a:path w="114300" h="76200">
                <a:moveTo>
                  <a:pt x="19050" y="0"/>
                </a:moveTo>
                <a:lnTo>
                  <a:pt x="95250" y="0"/>
                </a:lnTo>
                <a:cubicBezTo>
                  <a:pt x="105771" y="0"/>
                  <a:pt x="114300" y="8529"/>
                  <a:pt x="114300" y="19050"/>
                </a:cubicBezTo>
                <a:lnTo>
                  <a:pt x="114300" y="57150"/>
                </a:lnTo>
                <a:cubicBezTo>
                  <a:pt x="114300" y="67671"/>
                  <a:pt x="105771" y="76200"/>
                  <a:pt x="95250" y="76200"/>
                </a:cubicBezTo>
                <a:lnTo>
                  <a:pt x="19050" y="76200"/>
                </a:lnTo>
                <a:cubicBezTo>
                  <a:pt x="8529" y="76200"/>
                  <a:pt x="0" y="67671"/>
                  <a:pt x="0" y="571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1A56DB"/>
          </a:solidFill>
          <a:ln>
            <a:noFill/>
          </a:ln>
        </p:spPr>
      </p:sp>
      <p:sp>
        <p:nvSpPr>
          <p:cNvPr id="19" name="Freeform 19"/>
          <p:cNvSpPr/>
          <p:nvPr/>
        </p:nvSpPr>
        <p:spPr>
          <a:xfrm>
            <a:off x="962025" y="2762250"/>
            <a:ext cx="114300" cy="76200"/>
          </a:xfrm>
          <a:custGeom>
            <a:avLst/>
            <a:gdLst/>
            <a:ahLst/>
            <a:cxnLst/>
            <a:rect l="l" t="t" r="r" b="b"/>
            <a:pathLst>
              <a:path w="114300" h="76200">
                <a:moveTo>
                  <a:pt x="19050" y="0"/>
                </a:moveTo>
                <a:lnTo>
                  <a:pt x="95250" y="0"/>
                </a:lnTo>
                <a:cubicBezTo>
                  <a:pt x="105771" y="0"/>
                  <a:pt x="114300" y="8529"/>
                  <a:pt x="114300" y="19050"/>
                </a:cubicBezTo>
                <a:lnTo>
                  <a:pt x="114300" y="57150"/>
                </a:lnTo>
                <a:cubicBezTo>
                  <a:pt x="114300" y="67671"/>
                  <a:pt x="105771" y="76200"/>
                  <a:pt x="95250" y="76200"/>
                </a:cubicBezTo>
                <a:lnTo>
                  <a:pt x="19050" y="76200"/>
                </a:lnTo>
                <a:cubicBezTo>
                  <a:pt x="8529" y="76200"/>
                  <a:pt x="0" y="67671"/>
                  <a:pt x="0" y="57150"/>
                </a:cubicBezTo>
                <a:lnTo>
                  <a:pt x="0" y="19050"/>
                </a:lnTo>
                <a:cubicBezTo>
                  <a:pt x="0" y="8529"/>
                  <a:pt x="8529" y="0"/>
                  <a:pt x="19050" y="0"/>
                </a:cubicBezTo>
                <a:close/>
              </a:path>
            </a:pathLst>
          </a:custGeom>
          <a:solidFill>
            <a:srgbClr val="1A56DB"/>
          </a:solidFill>
          <a:ln>
            <a:noFill/>
          </a:ln>
        </p:spPr>
      </p:sp>
      <p:sp>
        <p:nvSpPr>
          <p:cNvPr id="20" name="Line 20"/>
          <p:cNvSpPr/>
          <p:nvPr/>
        </p:nvSpPr>
        <p:spPr>
          <a:xfrm>
            <a:off x="904875" y="2800350"/>
            <a:ext cx="57150" cy="9525"/>
          </a:xfrm>
          <a:custGeom>
            <a:avLst/>
            <a:gdLst/>
            <a:ahLst/>
            <a:cxnLst/>
            <a:rect l="l" t="t" r="r" b="b"/>
            <a:pathLst>
              <a:path w="57150" h="952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9050">
            <a:solidFill>
              <a:srgbClr val="1A56DB"/>
            </a:solidFill>
          </a:ln>
        </p:spPr>
      </p:sp>
      <p:sp>
        <p:nvSpPr>
          <p:cNvPr id="21" name="Line 21"/>
          <p:cNvSpPr/>
          <p:nvPr/>
        </p:nvSpPr>
        <p:spPr>
          <a:xfrm>
            <a:off x="790575" y="2838450"/>
            <a:ext cx="9525" cy="66675"/>
          </a:xfrm>
          <a:custGeom>
            <a:avLst/>
            <a:gdLst/>
            <a:ahLst/>
            <a:cxnLst/>
            <a:rect l="l" t="t" r="r" b="b"/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/>
          <a:ln w="19050">
            <a:solidFill>
              <a:srgbClr val="1A56DB"/>
            </a:solidFill>
          </a:ln>
        </p:spPr>
      </p:sp>
      <p:sp>
        <p:nvSpPr>
          <p:cNvPr id="22" name="Line 22"/>
          <p:cNvSpPr/>
          <p:nvPr/>
        </p:nvSpPr>
        <p:spPr>
          <a:xfrm>
            <a:off x="1076325" y="2838450"/>
            <a:ext cx="9525" cy="66675"/>
          </a:xfrm>
          <a:custGeom>
            <a:avLst/>
            <a:gdLst/>
            <a:ahLst/>
            <a:cxnLst/>
            <a:rect l="l" t="t" r="r" b="b"/>
            <a:pathLst>
              <a:path w="9525" h="66675">
                <a:moveTo>
                  <a:pt x="0" y="0"/>
                </a:moveTo>
                <a:lnTo>
                  <a:pt x="0" y="66675"/>
                </a:lnTo>
              </a:path>
            </a:pathLst>
          </a:custGeom>
          <a:noFill/>
          <a:ln w="19050">
            <a:solidFill>
              <a:srgbClr val="1A56DB"/>
            </a:solidFill>
          </a:ln>
        </p:spPr>
      </p:sp>
      <p:sp>
        <p:nvSpPr>
          <p:cNvPr id="23" name="Line 23"/>
          <p:cNvSpPr/>
          <p:nvPr/>
        </p:nvSpPr>
        <p:spPr>
          <a:xfrm>
            <a:off x="790575" y="2905125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1A56DB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1319212" y="2717006"/>
            <a:ext cx="33754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56DB"/>
                </a:solidFill>
                <a:latin typeface="Arial"/>
                <a:ea typeface="Microsoft YaHei"/>
                <a:cs typeface="Arial"/>
              </a:rPr>
              <a:t>核心解决方案：华为云 ↔ 港华内网 VPN 打通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2945" y="3046095"/>
            <a:ext cx="197481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✓ 关闭所有系统公网管理端口暴露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2945" y="3255645"/>
            <a:ext cx="266490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✓ 保留公网业务访问，管理员统一走 VPN 隧道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02945" y="3465195"/>
            <a:ext cx="26911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✓ 结合 MFA 多因素认证，构建零信任访问体系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02945" y="3674745"/>
            <a:ext cx="18433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E40AF"/>
                </a:solidFill>
                <a:latin typeface="Arial"/>
                <a:ea typeface="Microsoft YaHei"/>
                <a:cs typeface="Arial"/>
              </a:rPr>
              <a:t>✓ 彻底消除管理端口公网暴露面</a:t>
            </a:r>
          </a:p>
        </p:txBody>
      </p:sp>
      <p:sp>
        <p:nvSpPr>
          <p:cNvPr id="29" name="Freeform 29"/>
          <p:cNvSpPr/>
          <p:nvPr/>
        </p:nvSpPr>
        <p:spPr>
          <a:xfrm>
            <a:off x="476250" y="4438650"/>
            <a:ext cx="4953000" cy="952500"/>
          </a:xfrm>
          <a:custGeom>
            <a:avLst/>
            <a:gdLst/>
            <a:ahLst/>
            <a:cxnLst/>
            <a:rect l="l" t="t" r="r" b="b"/>
            <a:pathLst>
              <a:path w="4953000" h="9525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876300"/>
                </a:lnTo>
                <a:cubicBezTo>
                  <a:pt x="4953000" y="918384"/>
                  <a:pt x="4918884" y="952500"/>
                  <a:pt x="4876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9FAFB"/>
          </a:solidFill>
          <a:ln w="9525">
            <a:solidFill>
              <a:srgbClr val="E5E7EB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703898" y="459724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架构示意</a:t>
            </a:r>
          </a:p>
        </p:txBody>
      </p:sp>
      <p:sp>
        <p:nvSpPr>
          <p:cNvPr id="31" name="Freeform 31"/>
          <p:cNvSpPr/>
          <p:nvPr/>
        </p:nvSpPr>
        <p:spPr>
          <a:xfrm>
            <a:off x="714375" y="4838700"/>
            <a:ext cx="1238250" cy="381000"/>
          </a:xfrm>
          <a:custGeom>
            <a:avLst/>
            <a:gdLst/>
            <a:ahLst/>
            <a:cxnLst/>
            <a:rect l="l" t="t" r="r" b="b"/>
            <a:pathLst>
              <a:path w="1238250" h="381000">
                <a:moveTo>
                  <a:pt x="57150" y="0"/>
                </a:moveTo>
                <a:lnTo>
                  <a:pt x="1181100" y="0"/>
                </a:lnTo>
                <a:cubicBezTo>
                  <a:pt x="1212663" y="0"/>
                  <a:pt x="1238250" y="25587"/>
                  <a:pt x="1238250" y="57150"/>
                </a:cubicBezTo>
                <a:lnTo>
                  <a:pt x="1238250" y="323850"/>
                </a:lnTo>
                <a:cubicBezTo>
                  <a:pt x="1238250" y="355413"/>
                  <a:pt x="1212663" y="381000"/>
                  <a:pt x="118110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115044" y="4979670"/>
            <a:ext cx="4369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A56DB"/>
                </a:solidFill>
                <a:latin typeface="Arial"/>
                <a:ea typeface="Microsoft YaHei"/>
                <a:cs typeface="Arial"/>
              </a:rPr>
              <a:t>华为云</a:t>
            </a:r>
          </a:p>
        </p:txBody>
      </p:sp>
      <p:sp>
        <p:nvSpPr>
          <p:cNvPr id="33" name="Freeform 33"/>
          <p:cNvSpPr/>
          <p:nvPr/>
        </p:nvSpPr>
        <p:spPr>
          <a:xfrm>
            <a:off x="2095500" y="4838700"/>
            <a:ext cx="762000" cy="381000"/>
          </a:xfrm>
          <a:custGeom>
            <a:avLst/>
            <a:gdLst/>
            <a:ahLst/>
            <a:cxnLst/>
            <a:rect l="l" t="t" r="r" b="b"/>
            <a:pathLst>
              <a:path w="762000" h="381000">
                <a:moveTo>
                  <a:pt x="57150" y="0"/>
                </a:moveTo>
                <a:lnTo>
                  <a:pt x="704850" y="0"/>
                </a:lnTo>
                <a:cubicBezTo>
                  <a:pt x="736413" y="0"/>
                  <a:pt x="762000" y="25587"/>
                  <a:pt x="762000" y="57150"/>
                </a:cubicBezTo>
                <a:lnTo>
                  <a:pt x="762000" y="323850"/>
                </a:lnTo>
                <a:cubicBezTo>
                  <a:pt x="762000" y="355413"/>
                  <a:pt x="736413" y="381000"/>
                  <a:pt x="70485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EF3C7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2216154" y="4987766"/>
            <a:ext cx="5206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VPN 隧道</a:t>
            </a:r>
          </a:p>
        </p:txBody>
      </p:sp>
      <p:sp>
        <p:nvSpPr>
          <p:cNvPr id="35" name="Freeform 35"/>
          <p:cNvSpPr/>
          <p:nvPr/>
        </p:nvSpPr>
        <p:spPr>
          <a:xfrm>
            <a:off x="3000375" y="4838700"/>
            <a:ext cx="1238250" cy="381000"/>
          </a:xfrm>
          <a:custGeom>
            <a:avLst/>
            <a:gdLst/>
            <a:ahLst/>
            <a:cxnLst/>
            <a:rect l="l" t="t" r="r" b="b"/>
            <a:pathLst>
              <a:path w="1238250" h="381000">
                <a:moveTo>
                  <a:pt x="57150" y="0"/>
                </a:moveTo>
                <a:lnTo>
                  <a:pt x="1181100" y="0"/>
                </a:lnTo>
                <a:cubicBezTo>
                  <a:pt x="1212663" y="0"/>
                  <a:pt x="1238250" y="25587"/>
                  <a:pt x="1238250" y="57150"/>
                </a:cubicBezTo>
                <a:lnTo>
                  <a:pt x="1238250" y="323850"/>
                </a:lnTo>
                <a:cubicBezTo>
                  <a:pt x="1238250" y="355413"/>
                  <a:pt x="1212663" y="381000"/>
                  <a:pt x="1181100" y="381000"/>
                </a:cubicBezTo>
                <a:lnTo>
                  <a:pt x="57150" y="381000"/>
                </a:lnTo>
                <a:cubicBezTo>
                  <a:pt x="25587" y="381000"/>
                  <a:pt x="0" y="355413"/>
                  <a:pt x="0" y="3238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3332036" y="4979670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港华内网</a:t>
            </a:r>
          </a:p>
        </p:txBody>
      </p:sp>
      <p:sp>
        <p:nvSpPr>
          <p:cNvPr id="37" name="Line 37"/>
          <p:cNvSpPr/>
          <p:nvPr/>
        </p:nvSpPr>
        <p:spPr>
          <a:xfrm>
            <a:off x="1952625" y="5029200"/>
            <a:ext cx="142875" cy="9525"/>
          </a:xfrm>
          <a:custGeom>
            <a:avLst/>
            <a:gdLst/>
            <a:ahLst/>
            <a:cxnLst/>
            <a:rect l="l" t="t" r="r" b="b"/>
            <a:pathLst>
              <a:path w="142875" h="952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19050">
            <a:solidFill>
              <a:srgbClr val="9CA3AF"/>
            </a:solidFill>
            <a:custDash>
              <a:ds d="200000" sp="100000"/>
            </a:custDash>
          </a:ln>
        </p:spPr>
      </p:sp>
      <p:sp>
        <p:nvSpPr>
          <p:cNvPr id="38" name="Line 38"/>
          <p:cNvSpPr/>
          <p:nvPr/>
        </p:nvSpPr>
        <p:spPr>
          <a:xfrm>
            <a:off x="2857500" y="5029200"/>
            <a:ext cx="142875" cy="9525"/>
          </a:xfrm>
          <a:custGeom>
            <a:avLst/>
            <a:gdLst/>
            <a:ahLst/>
            <a:cxnLst/>
            <a:rect l="l" t="t" r="r" b="b"/>
            <a:pathLst>
              <a:path w="142875" h="952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19050">
            <a:solidFill>
              <a:srgbClr val="9CA3AF"/>
            </a:solidFill>
            <a:custDash>
              <a:ds d="200000" sp="100000"/>
            </a:custDash>
          </a:ln>
        </p:spPr>
      </p:sp>
      <p:sp>
        <p:nvSpPr>
          <p:cNvPr id="39" name="Freeform 39"/>
          <p:cNvSpPr/>
          <p:nvPr/>
        </p:nvSpPr>
        <p:spPr>
          <a:xfrm>
            <a:off x="5619750" y="1000125"/>
            <a:ext cx="6096000" cy="4391025"/>
          </a:xfrm>
          <a:custGeom>
            <a:avLst/>
            <a:gdLst/>
            <a:ahLst/>
            <a:cxnLst/>
            <a:rect l="l" t="t" r="r" b="b"/>
            <a:pathLst>
              <a:path w="6096000" h="4391025">
                <a:moveTo>
                  <a:pt x="95250" y="0"/>
                </a:moveTo>
                <a:lnTo>
                  <a:pt x="6000750" y="0"/>
                </a:lnTo>
                <a:cubicBezTo>
                  <a:pt x="6053355" y="0"/>
                  <a:pt x="6096000" y="42645"/>
                  <a:pt x="6096000" y="95250"/>
                </a:cubicBezTo>
                <a:lnTo>
                  <a:pt x="6096000" y="4295775"/>
                </a:lnTo>
                <a:cubicBezTo>
                  <a:pt x="6096000" y="4348380"/>
                  <a:pt x="6053355" y="4391025"/>
                  <a:pt x="6000750" y="4391025"/>
                </a:cubicBezTo>
                <a:lnTo>
                  <a:pt x="95250" y="4391025"/>
                </a:lnTo>
                <a:cubicBezTo>
                  <a:pt x="42645" y="4391025"/>
                  <a:pt x="0" y="4348380"/>
                  <a:pt x="0" y="4295775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9FAFB"/>
          </a:solidFill>
          <a:ln w="9525">
            <a:solidFill>
              <a:srgbClr val="E5E7EB"/>
            </a:solidFill>
          </a:ln>
        </p:spPr>
      </p:sp>
      <p:sp>
        <p:nvSpPr>
          <p:cNvPr id="40" name="Freeform 40"/>
          <p:cNvSpPr/>
          <p:nvPr/>
        </p:nvSpPr>
        <p:spPr>
          <a:xfrm>
            <a:off x="5619750" y="1000125"/>
            <a:ext cx="6096000" cy="47625"/>
          </a:xfrm>
          <a:custGeom>
            <a:avLst/>
            <a:gdLst/>
            <a:ahLst/>
            <a:cxnLst/>
            <a:rect l="l" t="t" r="r" b="b"/>
            <a:pathLst>
              <a:path w="6096000" h="47625">
                <a:moveTo>
                  <a:pt x="28575" y="0"/>
                </a:moveTo>
                <a:lnTo>
                  <a:pt x="6067425" y="0"/>
                </a:lnTo>
                <a:cubicBezTo>
                  <a:pt x="6083207" y="0"/>
                  <a:pt x="6096000" y="10661"/>
                  <a:pt x="6096000" y="23812"/>
                </a:cubicBezTo>
                <a:lnTo>
                  <a:pt x="6096000" y="23812"/>
                </a:lnTo>
                <a:cubicBezTo>
                  <a:pt x="6096000" y="36964"/>
                  <a:pt x="6083207" y="47625"/>
                  <a:pt x="6067425" y="47625"/>
                </a:cubicBezTo>
                <a:lnTo>
                  <a:pt x="28575" y="47625"/>
                </a:lnTo>
                <a:cubicBezTo>
                  <a:pt x="12793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2793" y="0"/>
                  <a:pt x="28575" y="0"/>
                </a:cubicBezTo>
                <a:close/>
              </a:path>
            </a:pathLst>
          </a:custGeom>
          <a:solidFill>
            <a:srgbClr val="1A56DB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890260" y="1203960"/>
            <a:ext cx="15026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分阶段整改路线图</a:t>
            </a:r>
          </a:p>
        </p:txBody>
      </p:sp>
      <p:sp>
        <p:nvSpPr>
          <p:cNvPr id="42" name="Line 42"/>
          <p:cNvSpPr/>
          <p:nvPr/>
        </p:nvSpPr>
        <p:spPr>
          <a:xfrm>
            <a:off x="6096000" y="1714500"/>
            <a:ext cx="9525" cy="3333750"/>
          </a:xfrm>
          <a:custGeom>
            <a:avLst/>
            <a:gdLst/>
            <a:ahLst/>
            <a:cxnLst/>
            <a:rect l="l" t="t" r="r" b="b"/>
            <a:pathLst>
              <a:path w="9525" h="3333750">
                <a:moveTo>
                  <a:pt x="0" y="0"/>
                </a:moveTo>
                <a:lnTo>
                  <a:pt x="0" y="3333750"/>
                </a:lnTo>
              </a:path>
            </a:pathLst>
          </a:custGeom>
          <a:noFill/>
          <a:ln w="19050">
            <a:solidFill>
              <a:srgbClr val="E5E7EB"/>
            </a:solidFill>
          </a:ln>
        </p:spPr>
      </p:sp>
      <p:sp>
        <p:nvSpPr>
          <p:cNvPr id="43" name="Ellipse 43"/>
          <p:cNvSpPr/>
          <p:nvPr/>
        </p:nvSpPr>
        <p:spPr>
          <a:xfrm>
            <a:off x="5962650" y="1724025"/>
            <a:ext cx="266700" cy="2667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6066545" y="1815941"/>
            <a:ext cx="589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45" name="Freeform 45"/>
          <p:cNvSpPr/>
          <p:nvPr/>
        </p:nvSpPr>
        <p:spPr>
          <a:xfrm>
            <a:off x="6477000" y="1695450"/>
            <a:ext cx="762000" cy="209550"/>
          </a:xfrm>
          <a:custGeom>
            <a:avLst/>
            <a:gdLst/>
            <a:ahLst/>
            <a:cxnLst/>
            <a:rect l="l" t="t" r="r" b="b"/>
            <a:pathLst>
              <a:path w="762000" h="209550">
                <a:moveTo>
                  <a:pt x="104775" y="0"/>
                </a:moveTo>
                <a:lnTo>
                  <a:pt x="657225" y="0"/>
                </a:lnTo>
                <a:cubicBezTo>
                  <a:pt x="715091" y="0"/>
                  <a:pt x="762000" y="46909"/>
                  <a:pt x="762000" y="104775"/>
                </a:cubicBezTo>
                <a:lnTo>
                  <a:pt x="762000" y="104775"/>
                </a:lnTo>
                <a:cubicBezTo>
                  <a:pt x="762000" y="162641"/>
                  <a:pt x="715091" y="209550"/>
                  <a:pt x="65722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FEF2F2"/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618446" y="1757362"/>
            <a:ext cx="479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DC2626"/>
                </a:solidFill>
                <a:latin typeface="Arial"/>
                <a:ea typeface="Microsoft YaHei"/>
                <a:cs typeface="Arial"/>
              </a:rPr>
              <a:t>立即处置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465570" y="1903095"/>
            <a:ext cx="3403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1周内</a:t>
            </a:r>
          </a:p>
        </p:txBody>
      </p:sp>
      <p:sp>
        <p:nvSpPr>
          <p:cNvPr id="48" name="Freeform 48"/>
          <p:cNvSpPr/>
          <p:nvPr/>
        </p:nvSpPr>
        <p:spPr>
          <a:xfrm>
            <a:off x="7334250" y="1714500"/>
            <a:ext cx="4191000" cy="476250"/>
          </a:xfrm>
          <a:custGeom>
            <a:avLst/>
            <a:gdLst/>
            <a:ahLst/>
            <a:cxnLst/>
            <a:rect l="l" t="t" r="r" b="b"/>
            <a:pathLst>
              <a:path w="4191000" h="476250">
                <a:moveTo>
                  <a:pt x="57150" y="0"/>
                </a:moveTo>
                <a:lnTo>
                  <a:pt x="4133850" y="0"/>
                </a:lnTo>
                <a:cubicBezTo>
                  <a:pt x="4165413" y="0"/>
                  <a:pt x="4191000" y="25587"/>
                  <a:pt x="4191000" y="57150"/>
                </a:cubicBezTo>
                <a:lnTo>
                  <a:pt x="4191000" y="419100"/>
                </a:lnTo>
                <a:cubicBezTo>
                  <a:pt x="4191000" y="450663"/>
                  <a:pt x="4165413" y="476250"/>
                  <a:pt x="4133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FECACA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7466648" y="1796891"/>
            <a:ext cx="21536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强密码策略 · 临时 IP 白名单 · 2FA 启用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466648" y="1968341"/>
            <a:ext cx="279225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所有管理员账户开启双因素认证，配置临时访问控制</a:t>
            </a:r>
          </a:p>
        </p:txBody>
      </p:sp>
      <p:sp>
        <p:nvSpPr>
          <p:cNvPr id="51" name="Ellipse 51"/>
          <p:cNvSpPr/>
          <p:nvPr/>
        </p:nvSpPr>
        <p:spPr>
          <a:xfrm>
            <a:off x="5962650" y="2628900"/>
            <a:ext cx="266700" cy="2667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6050731" y="2720816"/>
            <a:ext cx="905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53" name="Freeform 53"/>
          <p:cNvSpPr/>
          <p:nvPr/>
        </p:nvSpPr>
        <p:spPr>
          <a:xfrm>
            <a:off x="6477000" y="2600325"/>
            <a:ext cx="762000" cy="209550"/>
          </a:xfrm>
          <a:custGeom>
            <a:avLst/>
            <a:gdLst/>
            <a:ahLst/>
            <a:cxnLst/>
            <a:rect l="l" t="t" r="r" b="b"/>
            <a:pathLst>
              <a:path w="762000" h="209550">
                <a:moveTo>
                  <a:pt x="104775" y="0"/>
                </a:moveTo>
                <a:lnTo>
                  <a:pt x="657225" y="0"/>
                </a:lnTo>
                <a:cubicBezTo>
                  <a:pt x="715091" y="0"/>
                  <a:pt x="762000" y="46909"/>
                  <a:pt x="762000" y="104775"/>
                </a:cubicBezTo>
                <a:lnTo>
                  <a:pt x="762000" y="104775"/>
                </a:lnTo>
                <a:cubicBezTo>
                  <a:pt x="762000" y="162641"/>
                  <a:pt x="715091" y="209550"/>
                  <a:pt x="65722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FEF3C7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6618446" y="2662238"/>
            <a:ext cx="479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D97706"/>
                </a:solidFill>
                <a:latin typeface="Arial"/>
                <a:ea typeface="Microsoft YaHei"/>
                <a:cs typeface="Arial"/>
              </a:rPr>
              <a:t>短期加固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6465570" y="2807970"/>
            <a:ext cx="3886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2-4周</a:t>
            </a:r>
          </a:p>
        </p:txBody>
      </p:sp>
      <p:sp>
        <p:nvSpPr>
          <p:cNvPr id="56" name="Freeform 56"/>
          <p:cNvSpPr/>
          <p:nvPr/>
        </p:nvSpPr>
        <p:spPr>
          <a:xfrm>
            <a:off x="7334250" y="2619375"/>
            <a:ext cx="4191000" cy="476250"/>
          </a:xfrm>
          <a:custGeom>
            <a:avLst/>
            <a:gdLst/>
            <a:ahLst/>
            <a:cxnLst/>
            <a:rect l="l" t="t" r="r" b="b"/>
            <a:pathLst>
              <a:path w="4191000" h="476250">
                <a:moveTo>
                  <a:pt x="57150" y="0"/>
                </a:moveTo>
                <a:lnTo>
                  <a:pt x="4133850" y="0"/>
                </a:lnTo>
                <a:cubicBezTo>
                  <a:pt x="4165413" y="0"/>
                  <a:pt x="4191000" y="25587"/>
                  <a:pt x="4191000" y="57150"/>
                </a:cubicBezTo>
                <a:lnTo>
                  <a:pt x="4191000" y="419100"/>
                </a:lnTo>
                <a:cubicBezTo>
                  <a:pt x="4191000" y="450663"/>
                  <a:pt x="4165413" y="476250"/>
                  <a:pt x="4133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FEF3C7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7466648" y="2701766"/>
            <a:ext cx="260549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云端安全组收紧 · 管理路径随机化 · MFA 全覆盖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466648" y="2873216"/>
            <a:ext cx="267176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完成所有端口安全组配置，关闭高危端口公网访问</a:t>
            </a:r>
          </a:p>
        </p:txBody>
      </p:sp>
      <p:sp>
        <p:nvSpPr>
          <p:cNvPr id="59" name="Ellipse 59"/>
          <p:cNvSpPr/>
          <p:nvPr/>
        </p:nvSpPr>
        <p:spPr>
          <a:xfrm>
            <a:off x="5962650" y="3533775"/>
            <a:ext cx="266700" cy="2667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050731" y="3625691"/>
            <a:ext cx="905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61" name="Freeform 61"/>
          <p:cNvSpPr/>
          <p:nvPr/>
        </p:nvSpPr>
        <p:spPr>
          <a:xfrm>
            <a:off x="6477000" y="3505200"/>
            <a:ext cx="762000" cy="209550"/>
          </a:xfrm>
          <a:custGeom>
            <a:avLst/>
            <a:gdLst/>
            <a:ahLst/>
            <a:cxnLst/>
            <a:rect l="l" t="t" r="r" b="b"/>
            <a:pathLst>
              <a:path w="762000" h="209550">
                <a:moveTo>
                  <a:pt x="104775" y="0"/>
                </a:moveTo>
                <a:lnTo>
                  <a:pt x="657225" y="0"/>
                </a:lnTo>
                <a:cubicBezTo>
                  <a:pt x="715091" y="0"/>
                  <a:pt x="762000" y="46909"/>
                  <a:pt x="762000" y="104775"/>
                </a:cubicBezTo>
                <a:lnTo>
                  <a:pt x="762000" y="104775"/>
                </a:lnTo>
                <a:cubicBezTo>
                  <a:pt x="762000" y="162641"/>
                  <a:pt x="715091" y="209550"/>
                  <a:pt x="65722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6618446" y="3567112"/>
            <a:ext cx="479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A56DB"/>
                </a:solidFill>
                <a:latin typeface="Arial"/>
                <a:ea typeface="Microsoft YaHei"/>
                <a:cs typeface="Arial"/>
              </a:rPr>
              <a:t>中期建设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465570" y="3712845"/>
            <a:ext cx="4921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1-3个月</a:t>
            </a:r>
          </a:p>
        </p:txBody>
      </p:sp>
      <p:sp>
        <p:nvSpPr>
          <p:cNvPr id="64" name="Freeform 64"/>
          <p:cNvSpPr/>
          <p:nvPr/>
        </p:nvSpPr>
        <p:spPr>
          <a:xfrm>
            <a:off x="7334250" y="3524250"/>
            <a:ext cx="4191000" cy="476250"/>
          </a:xfrm>
          <a:custGeom>
            <a:avLst/>
            <a:gdLst/>
            <a:ahLst/>
            <a:cxnLst/>
            <a:rect l="l" t="t" r="r" b="b"/>
            <a:pathLst>
              <a:path w="4191000" h="476250">
                <a:moveTo>
                  <a:pt x="57150" y="0"/>
                </a:moveTo>
                <a:lnTo>
                  <a:pt x="4133850" y="0"/>
                </a:lnTo>
                <a:cubicBezTo>
                  <a:pt x="4165413" y="0"/>
                  <a:pt x="4191000" y="25587"/>
                  <a:pt x="4191000" y="57150"/>
                </a:cubicBezTo>
                <a:lnTo>
                  <a:pt x="4191000" y="419100"/>
                </a:lnTo>
                <a:cubicBezTo>
                  <a:pt x="4191000" y="450663"/>
                  <a:pt x="4165413" y="476250"/>
                  <a:pt x="4133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BFDBFE"/>
            </a:solidFill>
          </a:ln>
        </p:spPr>
      </p:sp>
      <p:sp>
        <p:nvSpPr>
          <p:cNvPr id="65" name="TextBox 65"/>
          <p:cNvSpPr txBox="1"/>
          <p:nvPr/>
        </p:nvSpPr>
        <p:spPr>
          <a:xfrm>
            <a:off x="7466648" y="3606641"/>
            <a:ext cx="21175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华为云 ↔ 港华内网 VPN 隧道打通与测试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466648" y="3778091"/>
            <a:ext cx="2701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完成 VPN 专线铺设，切换所有管理访问至内网隧道</a:t>
            </a:r>
          </a:p>
        </p:txBody>
      </p:sp>
      <p:sp>
        <p:nvSpPr>
          <p:cNvPr id="67" name="Ellipse 67"/>
          <p:cNvSpPr/>
          <p:nvPr/>
        </p:nvSpPr>
        <p:spPr>
          <a:xfrm>
            <a:off x="5962650" y="4438650"/>
            <a:ext cx="266700" cy="26670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6050731" y="4530566"/>
            <a:ext cx="905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  <p:sp>
        <p:nvSpPr>
          <p:cNvPr id="69" name="Freeform 69"/>
          <p:cNvSpPr/>
          <p:nvPr/>
        </p:nvSpPr>
        <p:spPr>
          <a:xfrm>
            <a:off x="6477000" y="4410075"/>
            <a:ext cx="762000" cy="209550"/>
          </a:xfrm>
          <a:custGeom>
            <a:avLst/>
            <a:gdLst/>
            <a:ahLst/>
            <a:cxnLst/>
            <a:rect l="l" t="t" r="r" b="b"/>
            <a:pathLst>
              <a:path w="762000" h="209550">
                <a:moveTo>
                  <a:pt x="104775" y="0"/>
                </a:moveTo>
                <a:lnTo>
                  <a:pt x="657225" y="0"/>
                </a:lnTo>
                <a:cubicBezTo>
                  <a:pt x="715091" y="0"/>
                  <a:pt x="762000" y="46909"/>
                  <a:pt x="762000" y="104775"/>
                </a:cubicBezTo>
                <a:lnTo>
                  <a:pt x="762000" y="104775"/>
                </a:lnTo>
                <a:cubicBezTo>
                  <a:pt x="762000" y="162641"/>
                  <a:pt x="715091" y="209550"/>
                  <a:pt x="657225" y="209550"/>
                </a:cubicBezTo>
                <a:lnTo>
                  <a:pt x="104775" y="209550"/>
                </a:lnTo>
                <a:cubicBezTo>
                  <a:pt x="46909" y="209550"/>
                  <a:pt x="0" y="162641"/>
                  <a:pt x="0" y="104775"/>
                </a:cubicBezTo>
                <a:lnTo>
                  <a:pt x="0" y="104775"/>
                </a:lnTo>
                <a:cubicBezTo>
                  <a:pt x="0" y="46909"/>
                  <a:pt x="46909" y="0"/>
                  <a:pt x="104775" y="0"/>
                </a:cubicBezTo>
                <a:close/>
              </a:path>
            </a:pathLst>
          </a:custGeom>
          <a:solidFill>
            <a:srgbClr val="DCFCE7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6618446" y="4471988"/>
            <a:ext cx="479108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16A34A"/>
                </a:solidFill>
                <a:latin typeface="Arial"/>
                <a:ea typeface="Microsoft YaHei"/>
                <a:cs typeface="Arial"/>
              </a:rPr>
              <a:t>长期运营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6465570" y="4617720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持续</a:t>
            </a:r>
          </a:p>
        </p:txBody>
      </p:sp>
      <p:sp>
        <p:nvSpPr>
          <p:cNvPr id="72" name="Freeform 72"/>
          <p:cNvSpPr/>
          <p:nvPr/>
        </p:nvSpPr>
        <p:spPr>
          <a:xfrm>
            <a:off x="7334250" y="4429125"/>
            <a:ext cx="4191000" cy="476250"/>
          </a:xfrm>
          <a:custGeom>
            <a:avLst/>
            <a:gdLst/>
            <a:ahLst/>
            <a:cxnLst/>
            <a:rect l="l" t="t" r="r" b="b"/>
            <a:pathLst>
              <a:path w="4191000" h="476250">
                <a:moveTo>
                  <a:pt x="57150" y="0"/>
                </a:moveTo>
                <a:lnTo>
                  <a:pt x="4133850" y="0"/>
                </a:lnTo>
                <a:cubicBezTo>
                  <a:pt x="4165413" y="0"/>
                  <a:pt x="4191000" y="25587"/>
                  <a:pt x="4191000" y="57150"/>
                </a:cubicBezTo>
                <a:lnTo>
                  <a:pt x="4191000" y="419100"/>
                </a:lnTo>
                <a:cubicBezTo>
                  <a:pt x="4191000" y="450663"/>
                  <a:pt x="4165413" y="476250"/>
                  <a:pt x="4133850" y="476250"/>
                </a:cubicBezTo>
                <a:lnTo>
                  <a:pt x="57150" y="476250"/>
                </a:lnTo>
                <a:cubicBezTo>
                  <a:pt x="25587" y="476250"/>
                  <a:pt x="0" y="450663"/>
                  <a:pt x="0" y="4191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BBF7D0"/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7466648" y="4511516"/>
            <a:ext cx="17259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74151"/>
                </a:solidFill>
                <a:latin typeface="Arial"/>
                <a:ea typeface="Microsoft YaHei"/>
                <a:cs typeface="Arial"/>
              </a:rPr>
              <a:t>定期渗透测试 · 零信任架构演进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7466648" y="4682966"/>
            <a:ext cx="19488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每半年红队评估，持续优化安全架构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5949970" y="6578441"/>
            <a:ext cx="29206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6 / 6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