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各位领导、同事，大家好。今天的汇报主题是安全漏洞整改说明。</a:t>
            </a:r>
          </a:p>
          <a:p>
            <a:endParaRPr lang="zh-CN" dirty="0"/>
          </a:p>
          <a:p>
            <a:r>
              <a:rPr lang="zh-CN" dirty="0"/>
              <a:t>这份材料基于香港红队2026年Red Team评估结果，对三个面向外网的信息系统安全漏洞进行说明，并提出相应的整改方案。</a:t>
            </a:r>
          </a:p>
          <a:p>
            <a:endParaRPr lang="zh-CN" dirty="0"/>
          </a:p>
          <a:p>
            <a:r>
              <a:rPr lang="zh-CN" dirty="0"/>
              <a:t>要点：① 香港红队发现三类系统存在管理端口暴露风险 ② 已使用HTTPS加密传输 ③ 核心解决方案是VPN内网打通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首先，我们来看这三个系统的共性安全问题。</a:t>
            </a:r>
          </a:p>
          <a:p>
            <a:endParaRPr lang="zh-CN" dirty="0"/>
          </a:p>
          <a:p>
            <a:r>
              <a:rPr lang="zh-CN" dirty="0"/>
              <a:t>香港红队在对我们的互联网系统进行评估后发现，三个系统都存在同一类风险：管理员登录页面和管理端口暴露于公网。这三个系统均面向外网开放，无法通过IP限制来缩小访问范围，虽然传输层已使用HTTPS加密，但网络层的端口暴露仍然构成了严重的安全隐患。</a:t>
            </a:r>
          </a:p>
          <a:p>
            <a:endParaRPr lang="zh-CN" dirty="0"/>
          </a:p>
          <a:p>
            <a:r>
              <a:rPr lang="zh-CN" dirty="0"/>
              <a:t>具体来看，系统一 rsp.towngas.com.cn 暴露了3389、5985、5986三个管理端口；系统二 ecard.towngas.com.cn 暴露了3389端口；系统三 houtai.towngas.com.cn 的 /cmsLogin 管理登录路径直接暴露在公网上。</a:t>
            </a:r>
          </a:p>
          <a:p>
            <a:endParaRPr lang="zh-CN" dirty="0"/>
          </a:p>
          <a:p>
            <a:r>
              <a:rPr lang="zh-CN" dirty="0"/>
              <a:t>要点：① 三个系统共性问题：管理端口/登录页暴露公网 ② 无法IP限制是核心困难 ③ 已采用HTTPS和第三方测试作为基础防护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接下来我们逐一分析每个系统的漏洞和应对策略，首先是共享资源管理平台。</a:t>
            </a:r>
          </a:p>
          <a:p>
            <a:endParaRPr lang="zh-CN" dirty="0"/>
          </a:p>
          <a:p>
            <a:r>
              <a:rPr lang="zh-CN" dirty="0"/>
              <a:t>该系统暴露了三个高危管理端口：3389是Windows远程桌面协议，5985和5986是WinRM远程管理服务。攻击者可以针对这些端口进行暴力破解、漏洞利用和横向移动。临时应对措施是立即启用强密码策略，要求所有管理员账户开启双因素认证，防止凭证被暴力破解。</a:t>
            </a:r>
          </a:p>
          <a:p>
            <a:endParaRPr lang="zh-CN" dirty="0"/>
          </a:p>
          <a:p>
            <a:r>
              <a:rPr lang="zh-CN" dirty="0"/>
              <a:t>中期措施是在华为云安全组中配置精确的IP白名单，限制只有可信IP才能访问这三个管理端口。长期方案是通过华为云与港华内网的VPN隧道，彻底关闭所有公网管理端口，管理员统一从内网VPN访问。</a:t>
            </a:r>
          </a:p>
          <a:p>
            <a:endParaRPr lang="zh-CN" dirty="0"/>
          </a:p>
          <a:p>
            <a:r>
              <a:rPr lang="zh-CN" dirty="0"/>
              <a:t>要点：① 三个高危管理端口：3389/5985/5986 ② 临时→中期→长期三阶段策略 ③ VPN内网访问是根本解决方案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第二个系统是电子卡系统，同样存在3389端口暴露问题。</a:t>
            </a:r>
          </a:p>
          <a:p>
            <a:endParaRPr lang="zh-CN" dirty="0"/>
          </a:p>
          <a:p>
            <a:r>
              <a:rPr lang="zh-CN" dirty="0"/>
              <a:t>3389端口是Windows RDP远程桌面协议，这是攻击者最常利用的协议之一，历史上发生过大量通过RDP口令爆破导致服务器被勒索软件攻击的事件。临时应对是强制要求RDP账户使用强密码（长度不少于12位），并设置账户锁定阈值为5次登录失败。</a:t>
            </a:r>
          </a:p>
          <a:p>
            <a:endParaRPr lang="zh-CN" dirty="0"/>
          </a:p>
          <a:p>
            <a:r>
              <a:rPr lang="zh-CN" dirty="0"/>
              <a:t>中期措施是在华为云安全组中配置入站规则，彻底阻断所有来源IP对TCP 3389端口的访问。长期方案同样是华为云VPN打通后，将RDP服务完全迁移至内网隧道访问。</a:t>
            </a:r>
          </a:p>
          <a:p>
            <a:endParaRPr lang="zh-CN" dirty="0"/>
          </a:p>
          <a:p>
            <a:r>
              <a:rPr lang="zh-CN" dirty="0"/>
              <a:t>要点：① RDP 3389是最常被攻击的端口之一 ② 安全组规则是最快的止血措施 ③ VPN打通后彻底消除暴露面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第三个系统是后台管理系统，问题是管理登录页面直接暴露在公网。</a:t>
            </a:r>
          </a:p>
          <a:p>
            <a:endParaRPr lang="zh-CN" dirty="0"/>
          </a:p>
          <a:p>
            <a:r>
              <a:rPr lang="zh-CN" dirty="0"/>
              <a:t>攻击者可以直接访问 /cmsLogin 这个路径进入后台管理登录页面，即使该页面有登录保护，在缺乏强认证的情况下，仍然存在弱口令被破解的风险。临时措施是将管理路径改为随机化路径，降低被自动化扫描工具批量发现和攻击的概率。</a:t>
            </a:r>
          </a:p>
          <a:p>
            <a:endParaRPr lang="zh-CN" dirty="0"/>
          </a:p>
          <a:p>
            <a:r>
              <a:rPr lang="zh-CN" dirty="0"/>
              <a:t>中期措施是为所有管理后台账户强制启用双因素认证，即使密码泄露也能防止账户被接管。长期方案是通过VPN内网访问，将后台登录页面从公网完全移除。</a:t>
            </a:r>
          </a:p>
          <a:p>
            <a:endParaRPr lang="zh-CN" dirty="0"/>
          </a:p>
          <a:p>
            <a:r>
              <a:rPr lang="zh-CN" dirty="0"/>
              <a:t>要点：① /cmsLogin 路径直接暴露是核心问题 ② 路径随机化是临时遮蔽手段 ③ VPN内网化是治本措施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最后，我们来看整体解决方案和整改时间表。</a:t>
            </a:r>
          </a:p>
          <a:p>
            <a:endParaRPr lang="zh-CN" dirty="0"/>
          </a:p>
          <a:p>
            <a:r>
              <a:rPr lang="zh-CN" dirty="0"/>
              <a:t>三个系统暴露的共同根本原因，是管理端口与业务端口共用公网出口，缺乏分层防御架构。我们建议的核心方案是建立华为云与港华内网之间的VPN隧道，将所有管理访问迁移至内网VPN通道：关闭三个系统所有公网管理端口，保留公网业务访问，管理员统一通过VPN隧道进行管理操作，并结合MFA多因素认证，构建完整的零信任访问体系。</a:t>
            </a:r>
          </a:p>
          <a:p>
            <a:endParaRPr lang="zh-CN" dirty="0"/>
          </a:p>
          <a:p>
            <a:r>
              <a:rPr lang="zh-CN" dirty="0"/>
              <a:t>整改分四个阶段推进：立即处置（1周内）完成强密码和2FA启用；短期加固（2-4周）完成安全组收紧和MFA全覆盖；中期建设（1-3个月）完成华为云与港华内网VPN隧道打通；长期运营（持续）每半年进行一次红队评估，持续优化安全架构。</a:t>
            </a:r>
          </a:p>
          <a:p>
            <a:endParaRPr lang="zh-CN" dirty="0"/>
          </a:p>
          <a:p>
            <a:r>
              <a:rPr lang="zh-CN" dirty="0"/>
              <a:t>请各方确认整改时间节点，我们将在各阶段完成后提供进度更新报告。</a:t>
            </a:r>
          </a:p>
          <a:p>
            <a:endParaRPr lang="zh-CN" dirty="0"/>
          </a:p>
          <a:p>
            <a:r>
              <a:rPr lang="zh-CN" dirty="0"/>
              <a:t>要点：① VPN隧道打通是核心治本方案 ② 四阶段整改路线图：立即→短期→中期→长期 ③ 需要各方确认时间节点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763000" y="-2667000"/>
            <a:ext cx="5334000" cy="533400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477500" y="190500"/>
            <a:ext cx="3429000" cy="3429000"/>
          </a:xfrm>
          <a:prstGeom prst="ellipse">
            <a:avLst/>
          </a:prstGeom>
          <a:solidFill>
            <a:srgbClr val="D6E8FF">
              <a:alpha val="7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7620000" y="4953000"/>
            <a:ext cx="3810000" cy="381000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895350" y="2800350"/>
            <a:ext cx="114300" cy="114300"/>
          </a:xfrm>
          <a:prstGeom prst="ellipse">
            <a:avLst/>
          </a:prstGeom>
          <a:solidFill>
            <a:srgbClr val="1E5AA8">
              <a:alpha val="3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104900" y="3105150"/>
            <a:ext cx="76200" cy="76200"/>
          </a:xfrm>
          <a:prstGeom prst="ellipse">
            <a:avLst/>
          </a:prstGeom>
          <a:solidFill>
            <a:srgbClr val="1E5AA8">
              <a:alpha val="2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828675" y="3209925"/>
            <a:ext cx="57150" cy="57150"/>
          </a:xfrm>
          <a:prstGeom prst="ellipse">
            <a:avLst/>
          </a:prstGeom>
          <a:solidFill>
            <a:srgbClr val="1E5AA8">
              <a:alpha val="15000"/>
            </a:srgbClr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762000" y="1905000"/>
            <a:ext cx="1028700" cy="285750"/>
          </a:xfrm>
          <a:custGeom>
            <a:avLst/>
            <a:gdLst/>
            <a:ahLst/>
            <a:cxnLst/>
            <a:rect l="l" t="t" r="r" b="b"/>
            <a:pathLst>
              <a:path w="1028700" h="285750">
                <a:moveTo>
                  <a:pt x="142875" y="0"/>
                </a:moveTo>
                <a:lnTo>
                  <a:pt x="885825" y="0"/>
                </a:lnTo>
                <a:cubicBezTo>
                  <a:pt x="964733" y="0"/>
                  <a:pt x="1028700" y="63967"/>
                  <a:pt x="1028700" y="142875"/>
                </a:cubicBezTo>
                <a:lnTo>
                  <a:pt x="1028700" y="142875"/>
                </a:lnTo>
                <a:cubicBezTo>
                  <a:pt x="1028700" y="221783"/>
                  <a:pt x="964733" y="285750"/>
                  <a:pt x="88582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50868" y="199834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安全整改报告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6755" y="2387918"/>
            <a:ext cx="2778824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安全漏洞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6755" y="3102292"/>
            <a:ext cx="2778824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整改说明</a:t>
            </a:r>
          </a:p>
        </p:txBody>
      </p:sp>
      <p:sp>
        <p:nvSpPr>
          <p:cNvPr id="15" name="Freeform 15"/>
          <p:cNvSpPr/>
          <p:nvPr/>
        </p:nvSpPr>
        <p:spPr>
          <a:xfrm>
            <a:off x="762000" y="3829050"/>
            <a:ext cx="685800" cy="38100"/>
          </a:xfrm>
          <a:custGeom>
            <a:avLst/>
            <a:gdLst/>
            <a:ahLst/>
            <a:cxnLst/>
            <a:rect l="l" t="t" r="r" b="b"/>
            <a:pathLst>
              <a:path w="685800" h="38100">
                <a:moveTo>
                  <a:pt x="19050" y="0"/>
                </a:moveTo>
                <a:lnTo>
                  <a:pt x="666750" y="0"/>
                </a:lnTo>
                <a:cubicBezTo>
                  <a:pt x="677271" y="0"/>
                  <a:pt x="685800" y="8529"/>
                  <a:pt x="685800" y="19050"/>
                </a:cubicBezTo>
                <a:lnTo>
                  <a:pt x="685800" y="19050"/>
                </a:lnTo>
                <a:cubicBezTo>
                  <a:pt x="685800" y="29571"/>
                  <a:pt x="677271" y="38100"/>
                  <a:pt x="6667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5808" y="4053364"/>
            <a:ext cx="29466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4A7BB5"/>
                </a:solidFill>
                <a:latin typeface="Arial"/>
                <a:ea typeface="Microsoft YaHei"/>
                <a:cs typeface="Arial"/>
              </a:rPr>
              <a:t>香港红队 · 2026 Red Team Finding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618" y="56097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ADCB"/>
                </a:solidFill>
                <a:latin typeface="Arial"/>
                <a:ea typeface="Microsoft YaHei"/>
                <a:cs typeface="Arial"/>
              </a:rPr>
              <a:t>面向港华内外部沟通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618" y="5876449"/>
            <a:ext cx="7011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ADCB"/>
                </a:solidFill>
                <a:latin typeface="Arial"/>
                <a:ea typeface="Microsoft YaHei"/>
                <a:cs typeface="Arial"/>
              </a:rPr>
              <a:t>2026年4月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94671" y="2543175"/>
            <a:ext cx="2413159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0" b="1" dirty="0">
                <a:solidFill>
                  <a:srgbClr val="1E5AA8">
                    <a:alpha val="4000"/>
                  </a:srgbClr>
                </a:solidFill>
                <a:latin typeface="Arial"/>
                <a:ea typeface="Microsoft YaHei"/>
                <a:cs typeface="Arial"/>
              </a:rPr>
              <a:t>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59228" y="4114800"/>
            <a:ext cx="378904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dirty="0">
                <a:solidFill>
                  <a:srgbClr val="1E5AA8">
                    <a:alpha val="6000"/>
                  </a:srgbClr>
                </a:solidFill>
                <a:latin typeface="Arial"/>
                <a:ea typeface="Microsoft YaHei"/>
                <a:cs typeface="Arial"/>
              </a:rPr>
              <a:t>SECURITY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47625" cy="681990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38100"/>
            <a:ext cx="12192000" cy="723900"/>
          </a:xfrm>
          <a:prstGeom prst="rect">
            <a:avLst/>
          </a:prstGeom>
          <a:solidFill>
            <a:srgbClr val="F4F8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76250" y="476250"/>
            <a:ext cx="47625" cy="228600"/>
          </a:xfrm>
          <a:custGeom>
            <a:avLst/>
            <a:gdLst/>
            <a:ahLst/>
            <a:cxnLst/>
            <a:rect l="l" t="t" r="r" b="b"/>
            <a:pathLst>
              <a:path w="47625" h="2286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209550"/>
                </a:lnTo>
                <a:cubicBezTo>
                  <a:pt x="47625" y="220071"/>
                  <a:pt x="39096" y="228600"/>
                  <a:pt x="28575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21030" y="45910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安全漏洞概述</a:t>
            </a:r>
          </a:p>
        </p:txBody>
      </p:sp>
      <p:sp>
        <p:nvSpPr>
          <p:cNvPr id="8" name="Freeform 8"/>
          <p:cNvSpPr/>
          <p:nvPr/>
        </p:nvSpPr>
        <p:spPr>
          <a:xfrm>
            <a:off x="476250" y="952500"/>
            <a:ext cx="11239500" cy="952500"/>
          </a:xfrm>
          <a:custGeom>
            <a:avLst/>
            <a:gdLst/>
            <a:ahLst/>
            <a:cxnLst/>
            <a:rect l="l" t="t" r="r" b="b"/>
            <a:pathLst>
              <a:path w="11239500" h="952500">
                <a:moveTo>
                  <a:pt x="95250" y="0"/>
                </a:moveTo>
                <a:lnTo>
                  <a:pt x="11144250" y="0"/>
                </a:lnTo>
                <a:cubicBezTo>
                  <a:pt x="11196855" y="0"/>
                  <a:pt x="11239500" y="42645"/>
                  <a:pt x="11239500" y="95250"/>
                </a:cubicBezTo>
                <a:lnTo>
                  <a:pt x="11239500" y="857250"/>
                </a:lnTo>
                <a:cubicBezTo>
                  <a:pt x="11239500" y="909855"/>
                  <a:pt x="11196855" y="952500"/>
                  <a:pt x="111442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0F4FF"/>
          </a:solidFill>
          <a:ln w="9525">
            <a:solidFill>
              <a:srgbClr val="C5D9F5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476250" y="952500"/>
            <a:ext cx="47625" cy="952500"/>
          </a:xfrm>
          <a:custGeom>
            <a:avLst/>
            <a:gdLst/>
            <a:ahLst/>
            <a:cxnLst/>
            <a:rect l="l" t="t" r="r" b="b"/>
            <a:pathLst>
              <a:path w="47625" h="9525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933450"/>
                </a:lnTo>
                <a:cubicBezTo>
                  <a:pt x="47625" y="943971"/>
                  <a:pt x="39096" y="952500"/>
                  <a:pt x="28575" y="952500"/>
                </a:cubicBezTo>
                <a:lnTo>
                  <a:pt x="19050" y="952500"/>
                </a:lnTo>
                <a:cubicBezTo>
                  <a:pt x="8529" y="952500"/>
                  <a:pt x="0" y="943971"/>
                  <a:pt x="0" y="933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0565" y="1124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漏洞共性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1518" y="1361599"/>
            <a:ext cx="46028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D6FA0"/>
                </a:solidFill>
                <a:latin typeface="Arial"/>
                <a:ea typeface="Microsoft YaHei"/>
                <a:cs typeface="Arial"/>
              </a:rPr>
              <a:t>管理员登录页面 / 管理端口暴露于互联网，存在被恶意扫描和攻击的风险</a:t>
            </a:r>
          </a:p>
        </p:txBody>
      </p:sp>
      <p:sp>
        <p:nvSpPr>
          <p:cNvPr id="12" name="Freeform 12"/>
          <p:cNvSpPr/>
          <p:nvPr/>
        </p:nvSpPr>
        <p:spPr>
          <a:xfrm>
            <a:off x="723900" y="161925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114300" y="0"/>
                </a:moveTo>
                <a:lnTo>
                  <a:pt x="723900" y="0"/>
                </a:lnTo>
                <a:cubicBezTo>
                  <a:pt x="787026" y="0"/>
                  <a:pt x="838200" y="51174"/>
                  <a:pt x="838200" y="114300"/>
                </a:cubicBezTo>
                <a:lnTo>
                  <a:pt x="838200" y="114300"/>
                </a:lnTo>
                <a:cubicBezTo>
                  <a:pt x="838200" y="177426"/>
                  <a:pt x="787026" y="228600"/>
                  <a:pt x="7239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79491" y="16825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外网开放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76400" y="161925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114300" y="0"/>
                </a:moveTo>
                <a:lnTo>
                  <a:pt x="723900" y="0"/>
                </a:lnTo>
                <a:cubicBezTo>
                  <a:pt x="787026" y="0"/>
                  <a:pt x="838200" y="51174"/>
                  <a:pt x="838200" y="114300"/>
                </a:cubicBezTo>
                <a:lnTo>
                  <a:pt x="838200" y="114300"/>
                </a:lnTo>
                <a:cubicBezTo>
                  <a:pt x="838200" y="177426"/>
                  <a:pt x="787026" y="228600"/>
                  <a:pt x="7239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841480" y="1682591"/>
            <a:ext cx="5080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无法限IP</a:t>
            </a:r>
          </a:p>
        </p:txBody>
      </p:sp>
      <p:sp>
        <p:nvSpPr>
          <p:cNvPr id="16" name="Freeform 16"/>
          <p:cNvSpPr/>
          <p:nvPr/>
        </p:nvSpPr>
        <p:spPr>
          <a:xfrm>
            <a:off x="2628900" y="161925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114300" y="0"/>
                </a:moveTo>
                <a:lnTo>
                  <a:pt x="723900" y="0"/>
                </a:lnTo>
                <a:cubicBezTo>
                  <a:pt x="787026" y="0"/>
                  <a:pt x="838200" y="51174"/>
                  <a:pt x="838200" y="114300"/>
                </a:cubicBezTo>
                <a:lnTo>
                  <a:pt x="838200" y="114300"/>
                </a:lnTo>
                <a:cubicBezTo>
                  <a:pt x="838200" y="177426"/>
                  <a:pt x="787026" y="228600"/>
                  <a:pt x="7239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737047" y="1682591"/>
            <a:ext cx="6219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HTTPS加密</a:t>
            </a:r>
          </a:p>
        </p:txBody>
      </p:sp>
      <p:sp>
        <p:nvSpPr>
          <p:cNvPr id="18" name="Freeform 18"/>
          <p:cNvSpPr/>
          <p:nvPr/>
        </p:nvSpPr>
        <p:spPr>
          <a:xfrm>
            <a:off x="3581400" y="1619250"/>
            <a:ext cx="1047750" cy="228600"/>
          </a:xfrm>
          <a:custGeom>
            <a:avLst/>
            <a:gdLst/>
            <a:ahLst/>
            <a:cxnLst/>
            <a:rect l="l" t="t" r="r" b="b"/>
            <a:pathLst>
              <a:path w="1047750" h="228600">
                <a:moveTo>
                  <a:pt x="114300" y="0"/>
                </a:moveTo>
                <a:lnTo>
                  <a:pt x="933450" y="0"/>
                </a:lnTo>
                <a:cubicBezTo>
                  <a:pt x="996576" y="0"/>
                  <a:pt x="1047750" y="51174"/>
                  <a:pt x="1047750" y="114300"/>
                </a:cubicBezTo>
                <a:lnTo>
                  <a:pt x="1047750" y="114300"/>
                </a:lnTo>
                <a:cubicBezTo>
                  <a:pt x="1047750" y="177426"/>
                  <a:pt x="996576" y="228600"/>
                  <a:pt x="9334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715250" y="168259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已第三方测试</a:t>
            </a:r>
          </a:p>
        </p:txBody>
      </p:sp>
      <p:sp>
        <p:nvSpPr>
          <p:cNvPr id="20" name="Freeform 20"/>
          <p:cNvSpPr/>
          <p:nvPr/>
        </p:nvSpPr>
        <p:spPr>
          <a:xfrm>
            <a:off x="476250" y="2095500"/>
            <a:ext cx="3619500" cy="1238250"/>
          </a:xfrm>
          <a:custGeom>
            <a:avLst/>
            <a:gdLst/>
            <a:ahLst/>
            <a:cxnLst/>
            <a:rect l="l" t="t" r="r" b="b"/>
            <a:pathLst>
              <a:path w="3619500" h="1238250">
                <a:moveTo>
                  <a:pt x="95250" y="0"/>
                </a:moveTo>
                <a:lnTo>
                  <a:pt x="3524250" y="0"/>
                </a:lnTo>
                <a:cubicBezTo>
                  <a:pt x="3576855" y="0"/>
                  <a:pt x="3619500" y="42645"/>
                  <a:pt x="3619500" y="95250"/>
                </a:cubicBezTo>
                <a:lnTo>
                  <a:pt x="3619500" y="1143000"/>
                </a:lnTo>
                <a:cubicBezTo>
                  <a:pt x="3619500" y="1195605"/>
                  <a:pt x="3576855" y="1238250"/>
                  <a:pt x="35242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C5D9F5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476250" y="2095500"/>
            <a:ext cx="3619500" cy="57150"/>
          </a:xfrm>
          <a:custGeom>
            <a:avLst/>
            <a:gdLst/>
            <a:ahLst/>
            <a:cxnLst/>
            <a:rect l="l" t="t" r="r" b="b"/>
            <a:pathLst>
              <a:path w="3619500" h="57150">
                <a:moveTo>
                  <a:pt x="28575" y="0"/>
                </a:moveTo>
                <a:lnTo>
                  <a:pt x="3590925" y="0"/>
                </a:lnTo>
                <a:cubicBezTo>
                  <a:pt x="3606707" y="0"/>
                  <a:pt x="3619500" y="12793"/>
                  <a:pt x="3619500" y="28575"/>
                </a:cubicBezTo>
                <a:lnTo>
                  <a:pt x="3619500" y="28575"/>
                </a:lnTo>
                <a:cubicBezTo>
                  <a:pt x="3619500" y="44357"/>
                  <a:pt x="3606707" y="57150"/>
                  <a:pt x="35909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590550" y="2419350"/>
            <a:ext cx="342900" cy="34290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27190" y="2542699"/>
            <a:ext cx="696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4415" y="2439352"/>
            <a:ext cx="19830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系统一 · 共享资源管理平台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7272" y="2654141"/>
            <a:ext cx="12620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95BE"/>
                </a:solidFill>
                <a:latin typeface="Consolas"/>
                <a:ea typeface="Microsoft YaHei"/>
                <a:cs typeface="Consolas"/>
              </a:rPr>
              <a:t>rsp.towngas.com.cn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1522" y="297799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暴露端口：</a:t>
            </a:r>
          </a:p>
        </p:txBody>
      </p:sp>
      <p:sp>
        <p:nvSpPr>
          <p:cNvPr id="27" name="Freeform 27"/>
          <p:cNvSpPr/>
          <p:nvPr/>
        </p:nvSpPr>
        <p:spPr>
          <a:xfrm>
            <a:off x="1504950" y="2924175"/>
            <a:ext cx="495300" cy="209550"/>
          </a:xfrm>
          <a:custGeom>
            <a:avLst/>
            <a:gdLst/>
            <a:ahLst/>
            <a:cxnLst/>
            <a:rect l="l" t="t" r="r" b="b"/>
            <a:pathLst>
              <a:path w="495300" h="209550">
                <a:moveTo>
                  <a:pt x="38100" y="0"/>
                </a:moveTo>
                <a:lnTo>
                  <a:pt x="457200" y="0"/>
                </a:lnTo>
                <a:cubicBezTo>
                  <a:pt x="478242" y="0"/>
                  <a:pt x="495300" y="17058"/>
                  <a:pt x="495300" y="38100"/>
                </a:cubicBezTo>
                <a:lnTo>
                  <a:pt x="495300" y="171450"/>
                </a:lnTo>
                <a:cubicBezTo>
                  <a:pt x="495300" y="192492"/>
                  <a:pt x="478242" y="209550"/>
                  <a:pt x="4572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89351" y="2969895"/>
            <a:ext cx="326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E5AA8"/>
                </a:solidFill>
                <a:latin typeface="Consolas"/>
                <a:ea typeface="Microsoft YaHei"/>
                <a:cs typeface="Consolas"/>
              </a:rPr>
              <a:t>3389</a:t>
            </a:r>
          </a:p>
        </p:txBody>
      </p:sp>
      <p:sp>
        <p:nvSpPr>
          <p:cNvPr id="29" name="Freeform 29"/>
          <p:cNvSpPr/>
          <p:nvPr/>
        </p:nvSpPr>
        <p:spPr>
          <a:xfrm>
            <a:off x="2076450" y="2924175"/>
            <a:ext cx="495300" cy="209550"/>
          </a:xfrm>
          <a:custGeom>
            <a:avLst/>
            <a:gdLst/>
            <a:ahLst/>
            <a:cxnLst/>
            <a:rect l="l" t="t" r="r" b="b"/>
            <a:pathLst>
              <a:path w="495300" h="209550">
                <a:moveTo>
                  <a:pt x="38100" y="0"/>
                </a:moveTo>
                <a:lnTo>
                  <a:pt x="457200" y="0"/>
                </a:lnTo>
                <a:cubicBezTo>
                  <a:pt x="478242" y="0"/>
                  <a:pt x="495300" y="17058"/>
                  <a:pt x="495300" y="38100"/>
                </a:cubicBezTo>
                <a:lnTo>
                  <a:pt x="495300" y="171450"/>
                </a:lnTo>
                <a:cubicBezTo>
                  <a:pt x="495300" y="192492"/>
                  <a:pt x="478242" y="209550"/>
                  <a:pt x="4572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160851" y="2969895"/>
            <a:ext cx="326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E5AA8"/>
                </a:solidFill>
                <a:latin typeface="Consolas"/>
                <a:ea typeface="Microsoft YaHei"/>
                <a:cs typeface="Consolas"/>
              </a:rPr>
              <a:t>5985</a:t>
            </a:r>
          </a:p>
        </p:txBody>
      </p:sp>
      <p:sp>
        <p:nvSpPr>
          <p:cNvPr id="31" name="Freeform 31"/>
          <p:cNvSpPr/>
          <p:nvPr/>
        </p:nvSpPr>
        <p:spPr>
          <a:xfrm>
            <a:off x="2647950" y="2924175"/>
            <a:ext cx="495300" cy="209550"/>
          </a:xfrm>
          <a:custGeom>
            <a:avLst/>
            <a:gdLst/>
            <a:ahLst/>
            <a:cxnLst/>
            <a:rect l="l" t="t" r="r" b="b"/>
            <a:pathLst>
              <a:path w="495300" h="209550">
                <a:moveTo>
                  <a:pt x="38100" y="0"/>
                </a:moveTo>
                <a:lnTo>
                  <a:pt x="457200" y="0"/>
                </a:lnTo>
                <a:cubicBezTo>
                  <a:pt x="478242" y="0"/>
                  <a:pt x="495300" y="17058"/>
                  <a:pt x="495300" y="38100"/>
                </a:cubicBezTo>
                <a:lnTo>
                  <a:pt x="495300" y="171450"/>
                </a:lnTo>
                <a:cubicBezTo>
                  <a:pt x="495300" y="192492"/>
                  <a:pt x="478242" y="209550"/>
                  <a:pt x="4572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732351" y="2969895"/>
            <a:ext cx="326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E5AA8"/>
                </a:solidFill>
                <a:latin typeface="Consolas"/>
                <a:ea typeface="Microsoft YaHei"/>
                <a:cs typeface="Consolas"/>
              </a:rPr>
              <a:t>5986</a:t>
            </a:r>
          </a:p>
        </p:txBody>
      </p:sp>
      <p:sp>
        <p:nvSpPr>
          <p:cNvPr id="33" name="Freeform 33"/>
          <p:cNvSpPr/>
          <p:nvPr/>
        </p:nvSpPr>
        <p:spPr>
          <a:xfrm>
            <a:off x="4286250" y="2095500"/>
            <a:ext cx="3619500" cy="1238250"/>
          </a:xfrm>
          <a:custGeom>
            <a:avLst/>
            <a:gdLst/>
            <a:ahLst/>
            <a:cxnLst/>
            <a:rect l="l" t="t" r="r" b="b"/>
            <a:pathLst>
              <a:path w="3619500" h="1238250">
                <a:moveTo>
                  <a:pt x="95250" y="0"/>
                </a:moveTo>
                <a:lnTo>
                  <a:pt x="3524250" y="0"/>
                </a:lnTo>
                <a:cubicBezTo>
                  <a:pt x="3576855" y="0"/>
                  <a:pt x="3619500" y="42645"/>
                  <a:pt x="3619500" y="95250"/>
                </a:cubicBezTo>
                <a:lnTo>
                  <a:pt x="3619500" y="1143000"/>
                </a:lnTo>
                <a:cubicBezTo>
                  <a:pt x="3619500" y="1195605"/>
                  <a:pt x="3576855" y="1238250"/>
                  <a:pt x="35242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C5D9F5"/>
            </a:solidFill>
          </a:ln>
        </p:spPr>
      </p:sp>
      <p:sp>
        <p:nvSpPr>
          <p:cNvPr id="34" name="Freeform 34"/>
          <p:cNvSpPr/>
          <p:nvPr/>
        </p:nvSpPr>
        <p:spPr>
          <a:xfrm>
            <a:off x="4286250" y="2095500"/>
            <a:ext cx="3619500" cy="57150"/>
          </a:xfrm>
          <a:custGeom>
            <a:avLst/>
            <a:gdLst/>
            <a:ahLst/>
            <a:cxnLst/>
            <a:rect l="l" t="t" r="r" b="b"/>
            <a:pathLst>
              <a:path w="3619500" h="57150">
                <a:moveTo>
                  <a:pt x="28575" y="0"/>
                </a:moveTo>
                <a:lnTo>
                  <a:pt x="3590925" y="0"/>
                </a:lnTo>
                <a:cubicBezTo>
                  <a:pt x="3606707" y="0"/>
                  <a:pt x="3619500" y="12793"/>
                  <a:pt x="3619500" y="28575"/>
                </a:cubicBezTo>
                <a:lnTo>
                  <a:pt x="3619500" y="28575"/>
                </a:lnTo>
                <a:cubicBezTo>
                  <a:pt x="3619500" y="44357"/>
                  <a:pt x="3606707" y="57150"/>
                  <a:pt x="35909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B7BD8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4400550" y="2419350"/>
            <a:ext cx="342900" cy="342900"/>
          </a:xfrm>
          <a:prstGeom prst="ellipse">
            <a:avLst/>
          </a:prstGeom>
          <a:solidFill>
            <a:srgbClr val="2B7BD8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518500" y="2542699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844415" y="2439352"/>
            <a:ext cx="15000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系统二 · 电子卡系统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847272" y="2654141"/>
            <a:ext cx="13945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95BE"/>
                </a:solidFill>
                <a:latin typeface="Consolas"/>
                <a:ea typeface="Microsoft YaHei"/>
                <a:cs typeface="Consolas"/>
              </a:rPr>
              <a:t>ecard.towngas.com.cn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61522" y="297799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B7BD8"/>
                </a:solidFill>
                <a:latin typeface="Arial"/>
                <a:ea typeface="Microsoft YaHei"/>
                <a:cs typeface="Arial"/>
              </a:rPr>
              <a:t>暴露端口：</a:t>
            </a:r>
          </a:p>
        </p:txBody>
      </p:sp>
      <p:sp>
        <p:nvSpPr>
          <p:cNvPr id="40" name="Freeform 40"/>
          <p:cNvSpPr/>
          <p:nvPr/>
        </p:nvSpPr>
        <p:spPr>
          <a:xfrm>
            <a:off x="5314950" y="2924175"/>
            <a:ext cx="495300" cy="209550"/>
          </a:xfrm>
          <a:custGeom>
            <a:avLst/>
            <a:gdLst/>
            <a:ahLst/>
            <a:cxnLst/>
            <a:rect l="l" t="t" r="r" b="b"/>
            <a:pathLst>
              <a:path w="495300" h="209550">
                <a:moveTo>
                  <a:pt x="38100" y="0"/>
                </a:moveTo>
                <a:lnTo>
                  <a:pt x="457200" y="0"/>
                </a:lnTo>
                <a:cubicBezTo>
                  <a:pt x="478242" y="0"/>
                  <a:pt x="495300" y="17058"/>
                  <a:pt x="495300" y="38100"/>
                </a:cubicBezTo>
                <a:lnTo>
                  <a:pt x="495300" y="171450"/>
                </a:lnTo>
                <a:cubicBezTo>
                  <a:pt x="495300" y="192492"/>
                  <a:pt x="478242" y="209550"/>
                  <a:pt x="4572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399351" y="2969895"/>
            <a:ext cx="326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B7BD8"/>
                </a:solidFill>
                <a:latin typeface="Consolas"/>
                <a:ea typeface="Microsoft YaHei"/>
                <a:cs typeface="Consolas"/>
              </a:rPr>
              <a:t>3389</a:t>
            </a:r>
          </a:p>
        </p:txBody>
      </p:sp>
      <p:sp>
        <p:nvSpPr>
          <p:cNvPr id="42" name="Freeform 42"/>
          <p:cNvSpPr/>
          <p:nvPr/>
        </p:nvSpPr>
        <p:spPr>
          <a:xfrm>
            <a:off x="8096250" y="2095500"/>
            <a:ext cx="3619500" cy="1238250"/>
          </a:xfrm>
          <a:custGeom>
            <a:avLst/>
            <a:gdLst/>
            <a:ahLst/>
            <a:cxnLst/>
            <a:rect l="l" t="t" r="r" b="b"/>
            <a:pathLst>
              <a:path w="3619500" h="1238250">
                <a:moveTo>
                  <a:pt x="95250" y="0"/>
                </a:moveTo>
                <a:lnTo>
                  <a:pt x="3524250" y="0"/>
                </a:lnTo>
                <a:cubicBezTo>
                  <a:pt x="3576855" y="0"/>
                  <a:pt x="3619500" y="42645"/>
                  <a:pt x="3619500" y="95250"/>
                </a:cubicBezTo>
                <a:lnTo>
                  <a:pt x="3619500" y="1143000"/>
                </a:lnTo>
                <a:cubicBezTo>
                  <a:pt x="3619500" y="1195605"/>
                  <a:pt x="3576855" y="1238250"/>
                  <a:pt x="35242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C5D9F5"/>
            </a:solidFill>
          </a:ln>
        </p:spPr>
      </p:sp>
      <p:sp>
        <p:nvSpPr>
          <p:cNvPr id="43" name="Freeform 43"/>
          <p:cNvSpPr/>
          <p:nvPr/>
        </p:nvSpPr>
        <p:spPr>
          <a:xfrm>
            <a:off x="8096250" y="2095500"/>
            <a:ext cx="3619500" cy="57150"/>
          </a:xfrm>
          <a:custGeom>
            <a:avLst/>
            <a:gdLst/>
            <a:ahLst/>
            <a:cxnLst/>
            <a:rect l="l" t="t" r="r" b="b"/>
            <a:pathLst>
              <a:path w="3619500" h="57150">
                <a:moveTo>
                  <a:pt x="28575" y="0"/>
                </a:moveTo>
                <a:lnTo>
                  <a:pt x="3590925" y="0"/>
                </a:lnTo>
                <a:cubicBezTo>
                  <a:pt x="3606707" y="0"/>
                  <a:pt x="3619500" y="12793"/>
                  <a:pt x="3619500" y="28575"/>
                </a:cubicBezTo>
                <a:lnTo>
                  <a:pt x="3619500" y="28575"/>
                </a:lnTo>
                <a:cubicBezTo>
                  <a:pt x="3619500" y="44357"/>
                  <a:pt x="3606707" y="57150"/>
                  <a:pt x="35909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B7BD8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8210550" y="2419350"/>
            <a:ext cx="342900" cy="342900"/>
          </a:xfrm>
          <a:prstGeom prst="ellipse">
            <a:avLst/>
          </a:prstGeom>
          <a:solidFill>
            <a:srgbClr val="2B7BD8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328500" y="2542699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654415" y="2439352"/>
            <a:ext cx="16610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系统三 · 后台管理系统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657272" y="2654141"/>
            <a:ext cx="14307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95BE"/>
                </a:solidFill>
                <a:latin typeface="Consolas"/>
                <a:ea typeface="Microsoft YaHei"/>
                <a:cs typeface="Consolas"/>
              </a:rPr>
              <a:t>houtai.towngas.com.cn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371522" y="297799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B7BD8"/>
                </a:solidFill>
                <a:latin typeface="Arial"/>
                <a:ea typeface="Microsoft YaHei"/>
                <a:cs typeface="Arial"/>
              </a:rPr>
              <a:t>暴露路径：</a:t>
            </a:r>
          </a:p>
        </p:txBody>
      </p:sp>
      <p:sp>
        <p:nvSpPr>
          <p:cNvPr id="49" name="Freeform 49"/>
          <p:cNvSpPr/>
          <p:nvPr/>
        </p:nvSpPr>
        <p:spPr>
          <a:xfrm>
            <a:off x="9048750" y="2924175"/>
            <a:ext cx="1238250" cy="209550"/>
          </a:xfrm>
          <a:custGeom>
            <a:avLst/>
            <a:gdLst/>
            <a:ahLst/>
            <a:cxnLst/>
            <a:rect l="l" t="t" r="r" b="b"/>
            <a:pathLst>
              <a:path w="1238250" h="209550">
                <a:moveTo>
                  <a:pt x="38100" y="0"/>
                </a:moveTo>
                <a:lnTo>
                  <a:pt x="1200150" y="0"/>
                </a:lnTo>
                <a:cubicBezTo>
                  <a:pt x="1221192" y="0"/>
                  <a:pt x="1238250" y="17058"/>
                  <a:pt x="1238250" y="38100"/>
                </a:cubicBezTo>
                <a:lnTo>
                  <a:pt x="1238250" y="171450"/>
                </a:lnTo>
                <a:cubicBezTo>
                  <a:pt x="1238250" y="192492"/>
                  <a:pt x="1221192" y="209550"/>
                  <a:pt x="120015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347434" y="2977991"/>
            <a:ext cx="640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B7BD8"/>
                </a:solidFill>
                <a:latin typeface="Consolas"/>
                <a:ea typeface="Microsoft YaHei"/>
                <a:cs typeface="Consolas"/>
              </a:rPr>
              <a:t>/cmsLogin</a:t>
            </a:r>
          </a:p>
        </p:txBody>
      </p:sp>
      <p:sp>
        <p:nvSpPr>
          <p:cNvPr id="51" name="Freeform 51"/>
          <p:cNvSpPr/>
          <p:nvPr/>
        </p:nvSpPr>
        <p:spPr>
          <a:xfrm>
            <a:off x="476250" y="3571875"/>
            <a:ext cx="11239500" cy="476250"/>
          </a:xfrm>
          <a:custGeom>
            <a:avLst/>
            <a:gdLst/>
            <a:ahLst/>
            <a:cxnLst/>
            <a:rect l="l" t="t" r="r" b="b"/>
            <a:pathLst>
              <a:path w="11239500" h="476250">
                <a:moveTo>
                  <a:pt x="76200" y="0"/>
                </a:moveTo>
                <a:lnTo>
                  <a:pt x="11163300" y="0"/>
                </a:lnTo>
                <a:cubicBezTo>
                  <a:pt x="11205384" y="0"/>
                  <a:pt x="11239500" y="34116"/>
                  <a:pt x="11239500" y="76200"/>
                </a:cubicBezTo>
                <a:lnTo>
                  <a:pt x="11239500" y="400050"/>
                </a:lnTo>
                <a:cubicBezTo>
                  <a:pt x="11239500" y="442134"/>
                  <a:pt x="11205384" y="476250"/>
                  <a:pt x="111633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3FF"/>
          </a:solidFill>
          <a:ln w="9525">
            <a:solidFill>
              <a:srgbClr val="C5D9F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54368" y="3752374"/>
            <a:ext cx="53931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ℹ 以上三个系统均面向外网开放，无法限定访问IP，经香港红队评估确认存在安全风险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949970" y="6578441"/>
            <a:ext cx="2920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A0BDD8"/>
                </a:solidFill>
                <a:latin typeface="Arial"/>
                <a:ea typeface="Microsoft YaHei"/>
                <a:cs typeface="Arial"/>
              </a:rPr>
              <a:t>2 / 6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47625" cy="681990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38100"/>
            <a:ext cx="12192000" cy="723900"/>
          </a:xfrm>
          <a:prstGeom prst="rect">
            <a:avLst/>
          </a:prstGeom>
          <a:solidFill>
            <a:srgbClr val="F4F8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76250" y="476250"/>
            <a:ext cx="47625" cy="228600"/>
          </a:xfrm>
          <a:custGeom>
            <a:avLst/>
            <a:gdLst/>
            <a:ahLst/>
            <a:cxnLst/>
            <a:rect l="l" t="t" r="r" b="b"/>
            <a:pathLst>
              <a:path w="47625" h="2286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209550"/>
                </a:lnTo>
                <a:cubicBezTo>
                  <a:pt x="47625" y="220071"/>
                  <a:pt x="39096" y="228600"/>
                  <a:pt x="28575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21030" y="459105"/>
            <a:ext cx="39661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系统一 · 共享资源管理平台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50910" y="580549"/>
            <a:ext cx="14914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B95BE"/>
                </a:solidFill>
                <a:latin typeface="Consolas"/>
                <a:ea typeface="Microsoft YaHei"/>
                <a:cs typeface="Consolas"/>
              </a:rPr>
              <a:t>rsp.towngas.com.cn</a:t>
            </a:r>
          </a:p>
        </p:txBody>
      </p:sp>
      <p:sp>
        <p:nvSpPr>
          <p:cNvPr id="9" name="Freeform 9"/>
          <p:cNvSpPr/>
          <p:nvPr/>
        </p:nvSpPr>
        <p:spPr>
          <a:xfrm>
            <a:off x="476250" y="1047750"/>
            <a:ext cx="5334000" cy="2381250"/>
          </a:xfrm>
          <a:custGeom>
            <a:avLst/>
            <a:gdLst/>
            <a:ahLst/>
            <a:cxnLst/>
            <a:rect l="l" t="t" r="r" b="b"/>
            <a:pathLst>
              <a:path w="5334000" h="2381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2266950"/>
                </a:lnTo>
                <a:cubicBezTo>
                  <a:pt x="5334000" y="2330076"/>
                  <a:pt x="5282826" y="2381250"/>
                  <a:pt x="5219700" y="2381250"/>
                </a:cubicBezTo>
                <a:lnTo>
                  <a:pt x="114300" y="2381250"/>
                </a:lnTo>
                <a:cubicBezTo>
                  <a:pt x="51174" y="2381250"/>
                  <a:pt x="0" y="2330076"/>
                  <a:pt x="0" y="2266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0F4FF"/>
          </a:solidFill>
          <a:ln w="14288">
            <a:solidFill>
              <a:srgbClr val="C5D9F5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476250" y="1047750"/>
            <a:ext cx="5334000" cy="66675"/>
          </a:xfrm>
          <a:custGeom>
            <a:avLst/>
            <a:gdLst/>
            <a:ahLst/>
            <a:cxnLst/>
            <a:rect l="l" t="t" r="r" b="b"/>
            <a:pathLst>
              <a:path w="5334000" h="66675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38100"/>
                </a:lnTo>
                <a:cubicBezTo>
                  <a:pt x="5334000" y="53882"/>
                  <a:pt x="5321207" y="66675"/>
                  <a:pt x="5305425" y="66675"/>
                </a:cubicBezTo>
                <a:lnTo>
                  <a:pt x="28575" y="66675"/>
                </a:lnTo>
                <a:cubicBezTo>
                  <a:pt x="12793" y="66675"/>
                  <a:pt x="0" y="53882"/>
                  <a:pt x="0" y="381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762000" y="131445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97" y="0"/>
                  <a:pt x="762000" y="59703"/>
                  <a:pt x="762000" y="133350"/>
                </a:cubicBezTo>
                <a:lnTo>
                  <a:pt x="762000" y="133350"/>
                </a:lnTo>
                <a:cubicBezTo>
                  <a:pt x="762000" y="206997"/>
                  <a:pt x="702297" y="266700"/>
                  <a:pt x="628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55535" y="13982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风险说明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175260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95250" y="0"/>
                </a:moveTo>
                <a:lnTo>
                  <a:pt x="400050" y="0"/>
                </a:lnTo>
                <a:cubicBezTo>
                  <a:pt x="452655" y="0"/>
                  <a:pt x="495300" y="42645"/>
                  <a:pt x="495300" y="95250"/>
                </a:cubicBezTo>
                <a:lnTo>
                  <a:pt x="495300" y="400050"/>
                </a:lnTo>
                <a:cubicBezTo>
                  <a:pt x="495300" y="452655"/>
                  <a:pt x="452655" y="495300"/>
                  <a:pt x="4000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4674" y="1868805"/>
            <a:ext cx="14995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558" y="1814989"/>
            <a:ext cx="17921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管理端口暴露于公网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6368" y="2066449"/>
            <a:ext cx="37556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7BB5"/>
                </a:solidFill>
                <a:latin typeface="Arial"/>
                <a:ea typeface="Microsoft YaHei"/>
                <a:cs typeface="Arial"/>
              </a:rPr>
              <a:t>3389 / 5985 / 5986 端口直接暴露，存在被扫描和攻击风险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2476500"/>
            <a:ext cx="609600" cy="266700"/>
          </a:xfrm>
          <a:custGeom>
            <a:avLst/>
            <a:gdLst/>
            <a:ahLst/>
            <a:cxnLst/>
            <a:rect l="l" t="t" r="r" b="b"/>
            <a:pathLst>
              <a:path w="609600" h="266700">
                <a:moveTo>
                  <a:pt x="57150" y="0"/>
                </a:moveTo>
                <a:lnTo>
                  <a:pt x="552450" y="0"/>
                </a:lnTo>
                <a:cubicBezTo>
                  <a:pt x="584013" y="0"/>
                  <a:pt x="609600" y="25587"/>
                  <a:pt x="609600" y="57150"/>
                </a:cubicBezTo>
                <a:lnTo>
                  <a:pt x="609600" y="209550"/>
                </a:lnTo>
                <a:cubicBezTo>
                  <a:pt x="609600" y="241113"/>
                  <a:pt x="584013" y="266700"/>
                  <a:pt x="5524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E5AA8">
              <a:alpha val="10000"/>
            </a:srgbClr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800100" y="2514600"/>
            <a:ext cx="533400" cy="190500"/>
          </a:xfrm>
          <a:custGeom>
            <a:avLst/>
            <a:gdLst/>
            <a:ahLst/>
            <a:cxnLst/>
            <a:rect l="l" t="t" r="r" b="b"/>
            <a:pathLst>
              <a:path w="533400" h="190500">
                <a:moveTo>
                  <a:pt x="38100" y="0"/>
                </a:moveTo>
                <a:lnTo>
                  <a:pt x="495300" y="0"/>
                </a:lnTo>
                <a:cubicBezTo>
                  <a:pt x="516342" y="0"/>
                  <a:pt x="533400" y="17058"/>
                  <a:pt x="533400" y="38100"/>
                </a:cubicBezTo>
                <a:lnTo>
                  <a:pt x="533400" y="152400"/>
                </a:lnTo>
                <a:cubicBezTo>
                  <a:pt x="533400" y="173442"/>
                  <a:pt x="516342" y="190500"/>
                  <a:pt x="49530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E5AA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89947" y="2552224"/>
            <a:ext cx="353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5AA8"/>
                </a:solidFill>
                <a:latin typeface="Consolas"/>
                <a:ea typeface="Microsoft YaHei"/>
                <a:cs typeface="Consolas"/>
              </a:rPr>
              <a:t>3389</a:t>
            </a:r>
          </a:p>
        </p:txBody>
      </p:sp>
      <p:sp>
        <p:nvSpPr>
          <p:cNvPr id="20" name="Freeform 20"/>
          <p:cNvSpPr/>
          <p:nvPr/>
        </p:nvSpPr>
        <p:spPr>
          <a:xfrm>
            <a:off x="1485900" y="2476500"/>
            <a:ext cx="609600" cy="266700"/>
          </a:xfrm>
          <a:custGeom>
            <a:avLst/>
            <a:gdLst/>
            <a:ahLst/>
            <a:cxnLst/>
            <a:rect l="l" t="t" r="r" b="b"/>
            <a:pathLst>
              <a:path w="609600" h="266700">
                <a:moveTo>
                  <a:pt x="57150" y="0"/>
                </a:moveTo>
                <a:lnTo>
                  <a:pt x="552450" y="0"/>
                </a:lnTo>
                <a:cubicBezTo>
                  <a:pt x="584013" y="0"/>
                  <a:pt x="609600" y="25587"/>
                  <a:pt x="609600" y="57150"/>
                </a:cubicBezTo>
                <a:lnTo>
                  <a:pt x="609600" y="209550"/>
                </a:lnTo>
                <a:cubicBezTo>
                  <a:pt x="609600" y="241113"/>
                  <a:pt x="584013" y="266700"/>
                  <a:pt x="5524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E5AA8">
              <a:alpha val="10000"/>
            </a:srgbClr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1524000" y="2514600"/>
            <a:ext cx="533400" cy="190500"/>
          </a:xfrm>
          <a:custGeom>
            <a:avLst/>
            <a:gdLst/>
            <a:ahLst/>
            <a:cxnLst/>
            <a:rect l="l" t="t" r="r" b="b"/>
            <a:pathLst>
              <a:path w="533400" h="190500">
                <a:moveTo>
                  <a:pt x="38100" y="0"/>
                </a:moveTo>
                <a:lnTo>
                  <a:pt x="495300" y="0"/>
                </a:lnTo>
                <a:cubicBezTo>
                  <a:pt x="516342" y="0"/>
                  <a:pt x="533400" y="17058"/>
                  <a:pt x="533400" y="38100"/>
                </a:cubicBezTo>
                <a:lnTo>
                  <a:pt x="533400" y="152400"/>
                </a:lnTo>
                <a:cubicBezTo>
                  <a:pt x="533400" y="173442"/>
                  <a:pt x="516342" y="190500"/>
                  <a:pt x="49530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E5AA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613847" y="2552224"/>
            <a:ext cx="353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5AA8"/>
                </a:solidFill>
                <a:latin typeface="Consolas"/>
                <a:ea typeface="Microsoft YaHei"/>
                <a:cs typeface="Consolas"/>
              </a:rPr>
              <a:t>5985</a:t>
            </a:r>
          </a:p>
        </p:txBody>
      </p:sp>
      <p:sp>
        <p:nvSpPr>
          <p:cNvPr id="23" name="Freeform 23"/>
          <p:cNvSpPr/>
          <p:nvPr/>
        </p:nvSpPr>
        <p:spPr>
          <a:xfrm>
            <a:off x="2209800" y="2476500"/>
            <a:ext cx="609600" cy="266700"/>
          </a:xfrm>
          <a:custGeom>
            <a:avLst/>
            <a:gdLst/>
            <a:ahLst/>
            <a:cxnLst/>
            <a:rect l="l" t="t" r="r" b="b"/>
            <a:pathLst>
              <a:path w="609600" h="266700">
                <a:moveTo>
                  <a:pt x="57150" y="0"/>
                </a:moveTo>
                <a:lnTo>
                  <a:pt x="552450" y="0"/>
                </a:lnTo>
                <a:cubicBezTo>
                  <a:pt x="584013" y="0"/>
                  <a:pt x="609600" y="25587"/>
                  <a:pt x="609600" y="57150"/>
                </a:cubicBezTo>
                <a:lnTo>
                  <a:pt x="609600" y="209550"/>
                </a:lnTo>
                <a:cubicBezTo>
                  <a:pt x="609600" y="241113"/>
                  <a:pt x="584013" y="266700"/>
                  <a:pt x="5524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E5AA8">
              <a:alpha val="10000"/>
            </a:srgbClr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2247900" y="2514600"/>
            <a:ext cx="533400" cy="190500"/>
          </a:xfrm>
          <a:custGeom>
            <a:avLst/>
            <a:gdLst/>
            <a:ahLst/>
            <a:cxnLst/>
            <a:rect l="l" t="t" r="r" b="b"/>
            <a:pathLst>
              <a:path w="533400" h="190500">
                <a:moveTo>
                  <a:pt x="38100" y="0"/>
                </a:moveTo>
                <a:lnTo>
                  <a:pt x="495300" y="0"/>
                </a:lnTo>
                <a:cubicBezTo>
                  <a:pt x="516342" y="0"/>
                  <a:pt x="533400" y="17058"/>
                  <a:pt x="533400" y="38100"/>
                </a:cubicBezTo>
                <a:lnTo>
                  <a:pt x="533400" y="152400"/>
                </a:lnTo>
                <a:cubicBezTo>
                  <a:pt x="533400" y="173442"/>
                  <a:pt x="516342" y="190500"/>
                  <a:pt x="49530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E5AA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2337747" y="2552224"/>
            <a:ext cx="353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5AA8"/>
                </a:solidFill>
                <a:latin typeface="Consolas"/>
                <a:ea typeface="Microsoft YaHei"/>
                <a:cs typeface="Consolas"/>
              </a:rPr>
              <a:t>5986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0570" y="2931795"/>
            <a:ext cx="22968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8FC0"/>
                </a:solidFill>
                <a:latin typeface="Arial"/>
                <a:ea typeface="Microsoft YaHei"/>
                <a:cs typeface="Arial"/>
              </a:rPr>
              <a:t>3389 — Windows 远程桌面协议（RDP）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0570" y="3122295"/>
            <a:ext cx="2822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8FC0"/>
                </a:solidFill>
                <a:latin typeface="Arial"/>
                <a:ea typeface="Microsoft YaHei"/>
                <a:cs typeface="Arial"/>
              </a:rPr>
              <a:t>5985/5986 — Windows 远程管理服务（WinRM）</a:t>
            </a:r>
          </a:p>
        </p:txBody>
      </p:sp>
      <p:sp>
        <p:nvSpPr>
          <p:cNvPr id="28" name="Freeform 28"/>
          <p:cNvSpPr/>
          <p:nvPr/>
        </p:nvSpPr>
        <p:spPr>
          <a:xfrm>
            <a:off x="762000" y="3390900"/>
            <a:ext cx="647700" cy="228600"/>
          </a:xfrm>
          <a:custGeom>
            <a:avLst/>
            <a:gdLst/>
            <a:ahLst/>
            <a:cxnLst/>
            <a:rect l="l" t="t" r="r" b="b"/>
            <a:pathLst>
              <a:path w="647700" h="228600">
                <a:moveTo>
                  <a:pt x="114300" y="0"/>
                </a:moveTo>
                <a:lnTo>
                  <a:pt x="533400" y="0"/>
                </a:lnTo>
                <a:cubicBezTo>
                  <a:pt x="596526" y="0"/>
                  <a:pt x="647700" y="51174"/>
                  <a:pt x="647700" y="114300"/>
                </a:cubicBezTo>
                <a:lnTo>
                  <a:pt x="647700" y="114300"/>
                </a:lnTo>
                <a:cubicBezTo>
                  <a:pt x="647700" y="177426"/>
                  <a:pt x="596526" y="228600"/>
                  <a:pt x="5334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03803" y="3462338"/>
            <a:ext cx="3640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高风险</a:t>
            </a:r>
          </a:p>
        </p:txBody>
      </p:sp>
      <p:sp>
        <p:nvSpPr>
          <p:cNvPr id="30" name="Freeform 30"/>
          <p:cNvSpPr/>
          <p:nvPr/>
        </p:nvSpPr>
        <p:spPr>
          <a:xfrm>
            <a:off x="6000750" y="1047750"/>
            <a:ext cx="5715000" cy="5334000"/>
          </a:xfrm>
          <a:custGeom>
            <a:avLst/>
            <a:gdLst/>
            <a:ahLst/>
            <a:cxnLst/>
            <a:rect l="l" t="t" r="r" b="b"/>
            <a:pathLst>
              <a:path w="5715000" h="5334000">
                <a:moveTo>
                  <a:pt x="114300" y="0"/>
                </a:moveTo>
                <a:lnTo>
                  <a:pt x="5600700" y="0"/>
                </a:lnTo>
                <a:cubicBezTo>
                  <a:pt x="5663826" y="0"/>
                  <a:pt x="5715000" y="51174"/>
                  <a:pt x="5715000" y="114300"/>
                </a:cubicBezTo>
                <a:lnTo>
                  <a:pt x="5715000" y="5219700"/>
                </a:lnTo>
                <a:cubicBezTo>
                  <a:pt x="5715000" y="5282826"/>
                  <a:pt x="5663826" y="5334000"/>
                  <a:pt x="5600700" y="5334000"/>
                </a:cubicBezTo>
                <a:lnTo>
                  <a:pt x="114300" y="5334000"/>
                </a:lnTo>
                <a:cubicBezTo>
                  <a:pt x="51174" y="5334000"/>
                  <a:pt x="0" y="5282826"/>
                  <a:pt x="0" y="521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0FDF4"/>
          </a:solidFill>
          <a:ln w="14288">
            <a:solidFill>
              <a:srgbClr val="BBF7D0"/>
            </a:solidFill>
          </a:ln>
        </p:spPr>
      </p:sp>
      <p:sp>
        <p:nvSpPr>
          <p:cNvPr id="31" name="Freeform 31"/>
          <p:cNvSpPr/>
          <p:nvPr/>
        </p:nvSpPr>
        <p:spPr>
          <a:xfrm>
            <a:off x="6000750" y="1047750"/>
            <a:ext cx="5715000" cy="66675"/>
          </a:xfrm>
          <a:custGeom>
            <a:avLst/>
            <a:gdLst/>
            <a:ahLst/>
            <a:cxnLst/>
            <a:rect l="l" t="t" r="r" b="b"/>
            <a:pathLst>
              <a:path w="5715000" h="66675">
                <a:moveTo>
                  <a:pt x="28575" y="0"/>
                </a:moveTo>
                <a:lnTo>
                  <a:pt x="5686425" y="0"/>
                </a:lnTo>
                <a:cubicBezTo>
                  <a:pt x="5702207" y="0"/>
                  <a:pt x="5715000" y="12793"/>
                  <a:pt x="5715000" y="28575"/>
                </a:cubicBezTo>
                <a:lnTo>
                  <a:pt x="5715000" y="38100"/>
                </a:lnTo>
                <a:cubicBezTo>
                  <a:pt x="5715000" y="53882"/>
                  <a:pt x="5702207" y="66675"/>
                  <a:pt x="5686425" y="66675"/>
                </a:cubicBezTo>
                <a:lnTo>
                  <a:pt x="28575" y="66675"/>
                </a:lnTo>
                <a:cubicBezTo>
                  <a:pt x="12793" y="66675"/>
                  <a:pt x="0" y="53882"/>
                  <a:pt x="0" y="381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6286500" y="131445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97" y="0"/>
                  <a:pt x="762000" y="59703"/>
                  <a:pt x="762000" y="133350"/>
                </a:cubicBezTo>
                <a:lnTo>
                  <a:pt x="762000" y="133350"/>
                </a:lnTo>
                <a:cubicBezTo>
                  <a:pt x="762000" y="206997"/>
                  <a:pt x="702297" y="266700"/>
                  <a:pt x="628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380035" y="13982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34" name="Freeform 34"/>
          <p:cNvSpPr/>
          <p:nvPr/>
        </p:nvSpPr>
        <p:spPr>
          <a:xfrm>
            <a:off x="6286500" y="175260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95250" y="0"/>
                </a:moveTo>
                <a:lnTo>
                  <a:pt x="400050" y="0"/>
                </a:lnTo>
                <a:cubicBezTo>
                  <a:pt x="452655" y="0"/>
                  <a:pt x="495300" y="42645"/>
                  <a:pt x="495300" y="95250"/>
                </a:cubicBezTo>
                <a:lnTo>
                  <a:pt x="495300" y="400050"/>
                </a:lnTo>
                <a:cubicBezTo>
                  <a:pt x="495300" y="452655"/>
                  <a:pt x="452655" y="495300"/>
                  <a:pt x="4000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427150" y="1884998"/>
            <a:ext cx="21400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38010" y="1823085"/>
            <a:ext cx="1686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4532D"/>
                </a:solidFill>
                <a:latin typeface="Arial"/>
                <a:ea typeface="Microsoft YaHei"/>
                <a:cs typeface="Arial"/>
              </a:rPr>
              <a:t>分阶段消除公网暴露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40868" y="20664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从临时止血到长期治本，层层递进</a:t>
            </a:r>
          </a:p>
        </p:txBody>
      </p:sp>
      <p:sp>
        <p:nvSpPr>
          <p:cNvPr id="38" name="Freeform 38"/>
          <p:cNvSpPr/>
          <p:nvPr/>
        </p:nvSpPr>
        <p:spPr>
          <a:xfrm>
            <a:off x="6286500" y="24955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066800"/>
                </a:lnTo>
                <a:cubicBezTo>
                  <a:pt x="5238750" y="1108884"/>
                  <a:pt x="5204634" y="1143000"/>
                  <a:pt x="51625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6286500" y="2495550"/>
            <a:ext cx="47625" cy="1143000"/>
          </a:xfrm>
          <a:custGeom>
            <a:avLst/>
            <a:gdLst/>
            <a:ahLst/>
            <a:cxnLst/>
            <a:rect l="l" t="t" r="r" b="b"/>
            <a:pathLst>
              <a:path w="47625" h="11430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123950"/>
                </a:lnTo>
                <a:cubicBezTo>
                  <a:pt x="47625" y="1134471"/>
                  <a:pt x="39096" y="1143000"/>
                  <a:pt x="28575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6477000" y="266700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0" y="0"/>
                </a:moveTo>
                <a:lnTo>
                  <a:pt x="571500" y="0"/>
                </a:lnTo>
                <a:cubicBezTo>
                  <a:pt x="592542" y="0"/>
                  <a:pt x="609600" y="17058"/>
                  <a:pt x="609600" y="38100"/>
                </a:cubicBezTo>
                <a:lnTo>
                  <a:pt x="609600" y="190500"/>
                </a:lnTo>
                <a:cubicBezTo>
                  <a:pt x="609600" y="211542"/>
                  <a:pt x="592542" y="228600"/>
                  <a:pt x="57150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644807" y="27398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临时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188518" y="2723674"/>
            <a:ext cx="22376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C2A1C"/>
                </a:solidFill>
                <a:latin typeface="Arial"/>
                <a:ea typeface="Microsoft YaHei"/>
                <a:cs typeface="Arial"/>
              </a:rPr>
              <a:t>强密码策略 + 双因素认证（2FA）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65570" y="2998470"/>
            <a:ext cx="33024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立即启用复杂密码，要求所有管理员账户开启 2FA，防止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65570" y="31794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凭证被暴力破解</a:t>
            </a:r>
          </a:p>
        </p:txBody>
      </p:sp>
      <p:sp>
        <p:nvSpPr>
          <p:cNvPr id="45" name="Freeform 45"/>
          <p:cNvSpPr/>
          <p:nvPr/>
        </p:nvSpPr>
        <p:spPr>
          <a:xfrm>
            <a:off x="6286500" y="37528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066800"/>
                </a:lnTo>
                <a:cubicBezTo>
                  <a:pt x="5238750" y="1108884"/>
                  <a:pt x="5204634" y="1143000"/>
                  <a:pt x="51625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46" name="Freeform 46"/>
          <p:cNvSpPr/>
          <p:nvPr/>
        </p:nvSpPr>
        <p:spPr>
          <a:xfrm>
            <a:off x="6286500" y="3752850"/>
            <a:ext cx="47625" cy="1143000"/>
          </a:xfrm>
          <a:custGeom>
            <a:avLst/>
            <a:gdLst/>
            <a:ahLst/>
            <a:cxnLst/>
            <a:rect l="l" t="t" r="r" b="b"/>
            <a:pathLst>
              <a:path w="47625" h="11430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123950"/>
                </a:lnTo>
                <a:cubicBezTo>
                  <a:pt x="47625" y="1134471"/>
                  <a:pt x="39096" y="1143000"/>
                  <a:pt x="28575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6477000" y="392430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0" y="0"/>
                </a:moveTo>
                <a:lnTo>
                  <a:pt x="571500" y="0"/>
                </a:lnTo>
                <a:cubicBezTo>
                  <a:pt x="592542" y="0"/>
                  <a:pt x="609600" y="17058"/>
                  <a:pt x="609600" y="38100"/>
                </a:cubicBezTo>
                <a:lnTo>
                  <a:pt x="609600" y="190500"/>
                </a:lnTo>
                <a:cubicBezTo>
                  <a:pt x="609600" y="211542"/>
                  <a:pt x="592542" y="228600"/>
                  <a:pt x="57150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44807" y="39971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中期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188518" y="3980974"/>
            <a:ext cx="2035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C2A1C"/>
                </a:solidFill>
                <a:latin typeface="Arial"/>
                <a:ea typeface="Microsoft YaHei"/>
                <a:cs typeface="Arial"/>
              </a:rPr>
              <a:t>云端安全组限制管理 IP 白名单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465570" y="4255770"/>
            <a:ext cx="25794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配置华为云安全组规则，仅允许可信 IP 访问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465570" y="443674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3389/5985/5986 管理端口</a:t>
            </a:r>
          </a:p>
        </p:txBody>
      </p:sp>
      <p:sp>
        <p:nvSpPr>
          <p:cNvPr id="52" name="Freeform 52"/>
          <p:cNvSpPr/>
          <p:nvPr/>
        </p:nvSpPr>
        <p:spPr>
          <a:xfrm>
            <a:off x="6286500" y="50101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066800"/>
                </a:lnTo>
                <a:cubicBezTo>
                  <a:pt x="5238750" y="1108884"/>
                  <a:pt x="5204634" y="1143000"/>
                  <a:pt x="51625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53" name="Freeform 53"/>
          <p:cNvSpPr/>
          <p:nvPr/>
        </p:nvSpPr>
        <p:spPr>
          <a:xfrm>
            <a:off x="6286500" y="5010150"/>
            <a:ext cx="47625" cy="1143000"/>
          </a:xfrm>
          <a:custGeom>
            <a:avLst/>
            <a:gdLst/>
            <a:ahLst/>
            <a:cxnLst/>
            <a:rect l="l" t="t" r="r" b="b"/>
            <a:pathLst>
              <a:path w="47625" h="11430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123950"/>
                </a:lnTo>
                <a:cubicBezTo>
                  <a:pt x="47625" y="1134471"/>
                  <a:pt x="39096" y="1143000"/>
                  <a:pt x="28575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54" name="Freeform 54"/>
          <p:cNvSpPr/>
          <p:nvPr/>
        </p:nvSpPr>
        <p:spPr>
          <a:xfrm>
            <a:off x="6477000" y="518160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0" y="0"/>
                </a:moveTo>
                <a:lnTo>
                  <a:pt x="571500" y="0"/>
                </a:lnTo>
                <a:cubicBezTo>
                  <a:pt x="592542" y="0"/>
                  <a:pt x="609600" y="17058"/>
                  <a:pt x="609600" y="38100"/>
                </a:cubicBezTo>
                <a:lnTo>
                  <a:pt x="609600" y="190500"/>
                </a:lnTo>
                <a:cubicBezTo>
                  <a:pt x="609600" y="211542"/>
                  <a:pt x="592542" y="228600"/>
                  <a:pt x="57150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644807" y="52544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长期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88518" y="5238274"/>
            <a:ext cx="22600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C2A1C"/>
                </a:solidFill>
                <a:latin typeface="Arial"/>
                <a:ea typeface="Microsoft YaHei"/>
                <a:cs typeface="Arial"/>
              </a:rPr>
              <a:t>VPN 内网访问，彻底切断公网暴露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465570" y="5513070"/>
            <a:ext cx="33418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华为云与港华内网 VPN 打通后，关闭所有公网管理端口，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465570" y="5694045"/>
            <a:ext cx="17645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管理员统一通过 VPN 隧道访问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949970" y="6578441"/>
            <a:ext cx="2920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A0BDD8"/>
                </a:solidFill>
                <a:latin typeface="Arial"/>
                <a:ea typeface="Microsoft YaHei"/>
                <a:cs typeface="Arial"/>
              </a:rPr>
              <a:t>3 / 6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47625" cy="681990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38100"/>
            <a:ext cx="12192000" cy="723900"/>
          </a:xfrm>
          <a:prstGeom prst="rect">
            <a:avLst/>
          </a:prstGeom>
          <a:solidFill>
            <a:srgbClr val="F4F8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76250" y="476250"/>
            <a:ext cx="47625" cy="228600"/>
          </a:xfrm>
          <a:custGeom>
            <a:avLst/>
            <a:gdLst/>
            <a:ahLst/>
            <a:cxnLst/>
            <a:rect l="l" t="t" r="r" b="b"/>
            <a:pathLst>
              <a:path w="47625" h="2286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209550"/>
                </a:lnTo>
                <a:cubicBezTo>
                  <a:pt x="47625" y="220071"/>
                  <a:pt x="39096" y="228600"/>
                  <a:pt x="28575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21030" y="459105"/>
            <a:ext cx="30000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系统二 · 电子卡系统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94272" y="580549"/>
            <a:ext cx="16481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B95BE"/>
                </a:solidFill>
                <a:latin typeface="Consolas"/>
                <a:ea typeface="Microsoft YaHei"/>
                <a:cs typeface="Consolas"/>
              </a:rPr>
              <a:t>ecard.towngas.com.cn</a:t>
            </a:r>
          </a:p>
        </p:txBody>
      </p:sp>
      <p:sp>
        <p:nvSpPr>
          <p:cNvPr id="9" name="Freeform 9"/>
          <p:cNvSpPr/>
          <p:nvPr/>
        </p:nvSpPr>
        <p:spPr>
          <a:xfrm>
            <a:off x="476250" y="1047750"/>
            <a:ext cx="5334000" cy="2381250"/>
          </a:xfrm>
          <a:custGeom>
            <a:avLst/>
            <a:gdLst/>
            <a:ahLst/>
            <a:cxnLst/>
            <a:rect l="l" t="t" r="r" b="b"/>
            <a:pathLst>
              <a:path w="5334000" h="2381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2266950"/>
                </a:lnTo>
                <a:cubicBezTo>
                  <a:pt x="5334000" y="2330076"/>
                  <a:pt x="5282826" y="2381250"/>
                  <a:pt x="5219700" y="2381250"/>
                </a:cubicBezTo>
                <a:lnTo>
                  <a:pt x="114300" y="2381250"/>
                </a:lnTo>
                <a:cubicBezTo>
                  <a:pt x="51174" y="2381250"/>
                  <a:pt x="0" y="2330076"/>
                  <a:pt x="0" y="2266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0F4FF"/>
          </a:solidFill>
          <a:ln w="14288">
            <a:solidFill>
              <a:srgbClr val="C5D9F5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476250" y="1047750"/>
            <a:ext cx="5334000" cy="66675"/>
          </a:xfrm>
          <a:custGeom>
            <a:avLst/>
            <a:gdLst/>
            <a:ahLst/>
            <a:cxnLst/>
            <a:rect l="l" t="t" r="r" b="b"/>
            <a:pathLst>
              <a:path w="5334000" h="66675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38100"/>
                </a:lnTo>
                <a:cubicBezTo>
                  <a:pt x="5334000" y="53882"/>
                  <a:pt x="5321207" y="66675"/>
                  <a:pt x="5305425" y="66675"/>
                </a:cubicBezTo>
                <a:lnTo>
                  <a:pt x="28575" y="66675"/>
                </a:lnTo>
                <a:cubicBezTo>
                  <a:pt x="12793" y="66675"/>
                  <a:pt x="0" y="53882"/>
                  <a:pt x="0" y="381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762000" y="131445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97" y="0"/>
                  <a:pt x="762000" y="59703"/>
                  <a:pt x="762000" y="133350"/>
                </a:cubicBezTo>
                <a:lnTo>
                  <a:pt x="762000" y="133350"/>
                </a:lnTo>
                <a:cubicBezTo>
                  <a:pt x="762000" y="206997"/>
                  <a:pt x="702297" y="266700"/>
                  <a:pt x="628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55535" y="13982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风险说明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175260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95250" y="0"/>
                </a:moveTo>
                <a:lnTo>
                  <a:pt x="400050" y="0"/>
                </a:lnTo>
                <a:cubicBezTo>
                  <a:pt x="452655" y="0"/>
                  <a:pt x="495300" y="42645"/>
                  <a:pt x="495300" y="95250"/>
                </a:cubicBezTo>
                <a:lnTo>
                  <a:pt x="495300" y="400050"/>
                </a:lnTo>
                <a:cubicBezTo>
                  <a:pt x="495300" y="452655"/>
                  <a:pt x="452655" y="495300"/>
                  <a:pt x="4000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4674" y="1868805"/>
            <a:ext cx="14995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558" y="1814989"/>
            <a:ext cx="17823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RDP 端口暴露于公网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6368" y="2066449"/>
            <a:ext cx="45530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7BB5"/>
                </a:solidFill>
                <a:latin typeface="Arial"/>
                <a:ea typeface="Microsoft YaHei"/>
                <a:cs typeface="Arial"/>
              </a:rPr>
              <a:t>3389 端口（Windows 远程桌面协议）直接暴露，存在被扫描和攻击风险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2476500"/>
            <a:ext cx="609600" cy="266700"/>
          </a:xfrm>
          <a:custGeom>
            <a:avLst/>
            <a:gdLst/>
            <a:ahLst/>
            <a:cxnLst/>
            <a:rect l="l" t="t" r="r" b="b"/>
            <a:pathLst>
              <a:path w="609600" h="266700">
                <a:moveTo>
                  <a:pt x="57150" y="0"/>
                </a:moveTo>
                <a:lnTo>
                  <a:pt x="552450" y="0"/>
                </a:lnTo>
                <a:cubicBezTo>
                  <a:pt x="584013" y="0"/>
                  <a:pt x="609600" y="25587"/>
                  <a:pt x="609600" y="57150"/>
                </a:cubicBezTo>
                <a:lnTo>
                  <a:pt x="609600" y="209550"/>
                </a:lnTo>
                <a:cubicBezTo>
                  <a:pt x="609600" y="241113"/>
                  <a:pt x="584013" y="266700"/>
                  <a:pt x="5524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E5AA8">
              <a:alpha val="10000"/>
            </a:srgbClr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800100" y="2514600"/>
            <a:ext cx="533400" cy="190500"/>
          </a:xfrm>
          <a:custGeom>
            <a:avLst/>
            <a:gdLst/>
            <a:ahLst/>
            <a:cxnLst/>
            <a:rect l="l" t="t" r="r" b="b"/>
            <a:pathLst>
              <a:path w="533400" h="190500">
                <a:moveTo>
                  <a:pt x="38100" y="0"/>
                </a:moveTo>
                <a:lnTo>
                  <a:pt x="495300" y="0"/>
                </a:lnTo>
                <a:cubicBezTo>
                  <a:pt x="516342" y="0"/>
                  <a:pt x="533400" y="17058"/>
                  <a:pt x="533400" y="38100"/>
                </a:cubicBezTo>
                <a:lnTo>
                  <a:pt x="533400" y="152400"/>
                </a:lnTo>
                <a:cubicBezTo>
                  <a:pt x="533400" y="173442"/>
                  <a:pt x="516342" y="190500"/>
                  <a:pt x="49530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E5AA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89947" y="2552224"/>
            <a:ext cx="353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5AA8"/>
                </a:solidFill>
                <a:latin typeface="Consolas"/>
                <a:ea typeface="Microsoft YaHei"/>
                <a:cs typeface="Consolas"/>
              </a:rPr>
              <a:t>3389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570" y="2931795"/>
            <a:ext cx="3059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8FC0"/>
                </a:solidFill>
                <a:latin typeface="Arial"/>
                <a:ea typeface="Microsoft YaHei"/>
                <a:cs typeface="Arial"/>
              </a:rPr>
              <a:t>RDP — Windows 远程桌面协议，攻击者常利用该协议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3122295"/>
            <a:ext cx="33089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8FC0"/>
                </a:solidFill>
                <a:latin typeface="Arial"/>
                <a:ea typeface="Microsoft YaHei"/>
                <a:cs typeface="Arial"/>
              </a:rPr>
              <a:t>进行口令爆破和横向移动，历史上面临勒索软件高危威胁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" y="3390900"/>
            <a:ext cx="647700" cy="228600"/>
          </a:xfrm>
          <a:custGeom>
            <a:avLst/>
            <a:gdLst/>
            <a:ahLst/>
            <a:cxnLst/>
            <a:rect l="l" t="t" r="r" b="b"/>
            <a:pathLst>
              <a:path w="647700" h="228600">
                <a:moveTo>
                  <a:pt x="114300" y="0"/>
                </a:moveTo>
                <a:lnTo>
                  <a:pt x="533400" y="0"/>
                </a:lnTo>
                <a:cubicBezTo>
                  <a:pt x="596526" y="0"/>
                  <a:pt x="647700" y="51174"/>
                  <a:pt x="647700" y="114300"/>
                </a:cubicBezTo>
                <a:lnTo>
                  <a:pt x="647700" y="114300"/>
                </a:lnTo>
                <a:cubicBezTo>
                  <a:pt x="647700" y="177426"/>
                  <a:pt x="596526" y="228600"/>
                  <a:pt x="5334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03803" y="3462338"/>
            <a:ext cx="3640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高风险</a:t>
            </a:r>
          </a:p>
        </p:txBody>
      </p:sp>
      <p:sp>
        <p:nvSpPr>
          <p:cNvPr id="24" name="Freeform 24"/>
          <p:cNvSpPr/>
          <p:nvPr/>
        </p:nvSpPr>
        <p:spPr>
          <a:xfrm>
            <a:off x="6000750" y="1047750"/>
            <a:ext cx="5715000" cy="5334000"/>
          </a:xfrm>
          <a:custGeom>
            <a:avLst/>
            <a:gdLst/>
            <a:ahLst/>
            <a:cxnLst/>
            <a:rect l="l" t="t" r="r" b="b"/>
            <a:pathLst>
              <a:path w="5715000" h="5334000">
                <a:moveTo>
                  <a:pt x="114300" y="0"/>
                </a:moveTo>
                <a:lnTo>
                  <a:pt x="5600700" y="0"/>
                </a:lnTo>
                <a:cubicBezTo>
                  <a:pt x="5663826" y="0"/>
                  <a:pt x="5715000" y="51174"/>
                  <a:pt x="5715000" y="114300"/>
                </a:cubicBezTo>
                <a:lnTo>
                  <a:pt x="5715000" y="5219700"/>
                </a:lnTo>
                <a:cubicBezTo>
                  <a:pt x="5715000" y="5282826"/>
                  <a:pt x="5663826" y="5334000"/>
                  <a:pt x="5600700" y="5334000"/>
                </a:cubicBezTo>
                <a:lnTo>
                  <a:pt x="114300" y="5334000"/>
                </a:lnTo>
                <a:cubicBezTo>
                  <a:pt x="51174" y="5334000"/>
                  <a:pt x="0" y="5282826"/>
                  <a:pt x="0" y="521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0FDF4"/>
          </a:solidFill>
          <a:ln w="14288">
            <a:solidFill>
              <a:srgbClr val="BBF7D0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6000750" y="1047750"/>
            <a:ext cx="5715000" cy="66675"/>
          </a:xfrm>
          <a:custGeom>
            <a:avLst/>
            <a:gdLst/>
            <a:ahLst/>
            <a:cxnLst/>
            <a:rect l="l" t="t" r="r" b="b"/>
            <a:pathLst>
              <a:path w="5715000" h="66675">
                <a:moveTo>
                  <a:pt x="28575" y="0"/>
                </a:moveTo>
                <a:lnTo>
                  <a:pt x="5686425" y="0"/>
                </a:lnTo>
                <a:cubicBezTo>
                  <a:pt x="5702207" y="0"/>
                  <a:pt x="5715000" y="12793"/>
                  <a:pt x="5715000" y="28575"/>
                </a:cubicBezTo>
                <a:lnTo>
                  <a:pt x="5715000" y="38100"/>
                </a:lnTo>
                <a:cubicBezTo>
                  <a:pt x="5715000" y="53882"/>
                  <a:pt x="5702207" y="66675"/>
                  <a:pt x="5686425" y="66675"/>
                </a:cubicBezTo>
                <a:lnTo>
                  <a:pt x="28575" y="66675"/>
                </a:lnTo>
                <a:cubicBezTo>
                  <a:pt x="12793" y="66675"/>
                  <a:pt x="0" y="53882"/>
                  <a:pt x="0" y="381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6286500" y="131445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97" y="0"/>
                  <a:pt x="762000" y="59703"/>
                  <a:pt x="762000" y="133350"/>
                </a:cubicBezTo>
                <a:lnTo>
                  <a:pt x="762000" y="133350"/>
                </a:lnTo>
                <a:cubicBezTo>
                  <a:pt x="762000" y="206997"/>
                  <a:pt x="702297" y="266700"/>
                  <a:pt x="628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380035" y="13982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28" name="Freeform 28"/>
          <p:cNvSpPr/>
          <p:nvPr/>
        </p:nvSpPr>
        <p:spPr>
          <a:xfrm>
            <a:off x="6286500" y="175260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95250" y="0"/>
                </a:moveTo>
                <a:lnTo>
                  <a:pt x="400050" y="0"/>
                </a:lnTo>
                <a:cubicBezTo>
                  <a:pt x="452655" y="0"/>
                  <a:pt x="495300" y="42645"/>
                  <a:pt x="495300" y="95250"/>
                </a:cubicBezTo>
                <a:lnTo>
                  <a:pt x="495300" y="400050"/>
                </a:lnTo>
                <a:cubicBezTo>
                  <a:pt x="495300" y="452655"/>
                  <a:pt x="452655" y="495300"/>
                  <a:pt x="4000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427150" y="1884998"/>
            <a:ext cx="21400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38010" y="1823085"/>
            <a:ext cx="1686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4532D"/>
                </a:solidFill>
                <a:latin typeface="Arial"/>
                <a:ea typeface="Microsoft YaHei"/>
                <a:cs typeface="Arial"/>
              </a:rPr>
              <a:t>分阶段消除公网暴露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40868" y="20664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从临时止血到长期治本，层层递进</a:t>
            </a:r>
          </a:p>
        </p:txBody>
      </p:sp>
      <p:sp>
        <p:nvSpPr>
          <p:cNvPr id="32" name="Freeform 32"/>
          <p:cNvSpPr/>
          <p:nvPr/>
        </p:nvSpPr>
        <p:spPr>
          <a:xfrm>
            <a:off x="6286500" y="24955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066800"/>
                </a:lnTo>
                <a:cubicBezTo>
                  <a:pt x="5238750" y="1108884"/>
                  <a:pt x="5204634" y="1143000"/>
                  <a:pt x="51625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6286500" y="2495550"/>
            <a:ext cx="47625" cy="1143000"/>
          </a:xfrm>
          <a:custGeom>
            <a:avLst/>
            <a:gdLst/>
            <a:ahLst/>
            <a:cxnLst/>
            <a:rect l="l" t="t" r="r" b="b"/>
            <a:pathLst>
              <a:path w="47625" h="11430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123950"/>
                </a:lnTo>
                <a:cubicBezTo>
                  <a:pt x="47625" y="1134471"/>
                  <a:pt x="39096" y="1143000"/>
                  <a:pt x="28575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6477000" y="266700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0" y="0"/>
                </a:moveTo>
                <a:lnTo>
                  <a:pt x="571500" y="0"/>
                </a:lnTo>
                <a:cubicBezTo>
                  <a:pt x="592542" y="0"/>
                  <a:pt x="609600" y="17058"/>
                  <a:pt x="609600" y="38100"/>
                </a:cubicBezTo>
                <a:lnTo>
                  <a:pt x="609600" y="190500"/>
                </a:lnTo>
                <a:cubicBezTo>
                  <a:pt x="609600" y="211542"/>
                  <a:pt x="592542" y="228600"/>
                  <a:pt x="57150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644807" y="27398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临时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188518" y="2723674"/>
            <a:ext cx="21329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C2A1C"/>
                </a:solidFill>
                <a:latin typeface="Arial"/>
                <a:ea typeface="Microsoft YaHei"/>
                <a:cs typeface="Arial"/>
              </a:rPr>
              <a:t>RDP 强密码策略 + 账户锁定策略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65570" y="2998470"/>
            <a:ext cx="30986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强制要求复杂密码（长度≥12位），设置账户锁定阈值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65570" y="3179445"/>
            <a:ext cx="18828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为 5 次失败登录，防止暴力破解</a:t>
            </a:r>
          </a:p>
        </p:txBody>
      </p:sp>
      <p:sp>
        <p:nvSpPr>
          <p:cNvPr id="39" name="Freeform 39"/>
          <p:cNvSpPr/>
          <p:nvPr/>
        </p:nvSpPr>
        <p:spPr>
          <a:xfrm>
            <a:off x="6286500" y="37528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066800"/>
                </a:lnTo>
                <a:cubicBezTo>
                  <a:pt x="5238750" y="1108884"/>
                  <a:pt x="5204634" y="1143000"/>
                  <a:pt x="51625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40" name="Freeform 40"/>
          <p:cNvSpPr/>
          <p:nvPr/>
        </p:nvSpPr>
        <p:spPr>
          <a:xfrm>
            <a:off x="6286500" y="3752850"/>
            <a:ext cx="47625" cy="1143000"/>
          </a:xfrm>
          <a:custGeom>
            <a:avLst/>
            <a:gdLst/>
            <a:ahLst/>
            <a:cxnLst/>
            <a:rect l="l" t="t" r="r" b="b"/>
            <a:pathLst>
              <a:path w="47625" h="11430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123950"/>
                </a:lnTo>
                <a:cubicBezTo>
                  <a:pt x="47625" y="1134471"/>
                  <a:pt x="39096" y="1143000"/>
                  <a:pt x="28575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6477000" y="392430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0" y="0"/>
                </a:moveTo>
                <a:lnTo>
                  <a:pt x="571500" y="0"/>
                </a:lnTo>
                <a:cubicBezTo>
                  <a:pt x="592542" y="0"/>
                  <a:pt x="609600" y="17058"/>
                  <a:pt x="609600" y="38100"/>
                </a:cubicBezTo>
                <a:lnTo>
                  <a:pt x="609600" y="190500"/>
                </a:lnTo>
                <a:cubicBezTo>
                  <a:pt x="609600" y="211542"/>
                  <a:pt x="592542" y="228600"/>
                  <a:pt x="57150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644807" y="39971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中期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188518" y="3980974"/>
            <a:ext cx="23871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C2A1C"/>
                </a:solidFill>
                <a:latin typeface="Arial"/>
                <a:ea typeface="Microsoft YaHei"/>
                <a:cs typeface="Arial"/>
              </a:rPr>
              <a:t>云端安全组阻断 3389 公网入站流量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65570" y="4255770"/>
            <a:ext cx="29343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在华为云安全组中配置入站规则，禁止所有来源 IP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65570" y="4436745"/>
            <a:ext cx="18302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通过 TCP 3389 端口访问服务器</a:t>
            </a:r>
          </a:p>
        </p:txBody>
      </p:sp>
      <p:sp>
        <p:nvSpPr>
          <p:cNvPr id="46" name="Freeform 46"/>
          <p:cNvSpPr/>
          <p:nvPr/>
        </p:nvSpPr>
        <p:spPr>
          <a:xfrm>
            <a:off x="6286500" y="50101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066800"/>
                </a:lnTo>
                <a:cubicBezTo>
                  <a:pt x="5238750" y="1108884"/>
                  <a:pt x="5204634" y="1143000"/>
                  <a:pt x="51625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47" name="Freeform 47"/>
          <p:cNvSpPr/>
          <p:nvPr/>
        </p:nvSpPr>
        <p:spPr>
          <a:xfrm>
            <a:off x="6286500" y="5010150"/>
            <a:ext cx="47625" cy="1143000"/>
          </a:xfrm>
          <a:custGeom>
            <a:avLst/>
            <a:gdLst/>
            <a:ahLst/>
            <a:cxnLst/>
            <a:rect l="l" t="t" r="r" b="b"/>
            <a:pathLst>
              <a:path w="47625" h="11430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123950"/>
                </a:lnTo>
                <a:cubicBezTo>
                  <a:pt x="47625" y="1134471"/>
                  <a:pt x="39096" y="1143000"/>
                  <a:pt x="28575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6477000" y="518160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0" y="0"/>
                </a:moveTo>
                <a:lnTo>
                  <a:pt x="571500" y="0"/>
                </a:lnTo>
                <a:cubicBezTo>
                  <a:pt x="592542" y="0"/>
                  <a:pt x="609600" y="17058"/>
                  <a:pt x="609600" y="38100"/>
                </a:cubicBezTo>
                <a:lnTo>
                  <a:pt x="609600" y="190500"/>
                </a:lnTo>
                <a:cubicBezTo>
                  <a:pt x="609600" y="211542"/>
                  <a:pt x="592542" y="228600"/>
                  <a:pt x="57150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644807" y="52544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长期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188518" y="5238274"/>
            <a:ext cx="20058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C2A1C"/>
                </a:solidFill>
                <a:latin typeface="Arial"/>
                <a:ea typeface="Microsoft YaHei"/>
                <a:cs typeface="Arial"/>
              </a:rPr>
              <a:t>华为云 VPN 打通，纯内网访问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465570" y="5513070"/>
            <a:ext cx="2940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VPN 隧道建立后，关闭 RDP 公网入口，管理员通过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465570" y="5694045"/>
            <a:ext cx="17842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VPN 连接的虚拟 IP 访问服务器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949970" y="6578441"/>
            <a:ext cx="2920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A0BDD8"/>
                </a:solidFill>
                <a:latin typeface="Arial"/>
                <a:ea typeface="Microsoft YaHei"/>
                <a:cs typeface="Arial"/>
              </a:rPr>
              <a:t>4 / 6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47625" cy="681990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38100"/>
            <a:ext cx="12192000" cy="723900"/>
          </a:xfrm>
          <a:prstGeom prst="rect">
            <a:avLst/>
          </a:prstGeom>
          <a:solidFill>
            <a:srgbClr val="F4F8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76250" y="476250"/>
            <a:ext cx="47625" cy="228600"/>
          </a:xfrm>
          <a:custGeom>
            <a:avLst/>
            <a:gdLst/>
            <a:ahLst/>
            <a:cxnLst/>
            <a:rect l="l" t="t" r="r" b="b"/>
            <a:pathLst>
              <a:path w="47625" h="2286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209550"/>
                </a:lnTo>
                <a:cubicBezTo>
                  <a:pt x="47625" y="220071"/>
                  <a:pt x="39096" y="228600"/>
                  <a:pt x="28575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21030" y="459105"/>
            <a:ext cx="33220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系统三 · 后台管理系统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51552" y="580549"/>
            <a:ext cx="1690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B95BE"/>
                </a:solidFill>
                <a:latin typeface="Consolas"/>
                <a:ea typeface="Microsoft YaHei"/>
                <a:cs typeface="Consolas"/>
              </a:rPr>
              <a:t>houtai.towngas.com.cn</a:t>
            </a:r>
          </a:p>
        </p:txBody>
      </p:sp>
      <p:sp>
        <p:nvSpPr>
          <p:cNvPr id="9" name="Freeform 9"/>
          <p:cNvSpPr/>
          <p:nvPr/>
        </p:nvSpPr>
        <p:spPr>
          <a:xfrm>
            <a:off x="476250" y="1047750"/>
            <a:ext cx="5334000" cy="2381250"/>
          </a:xfrm>
          <a:custGeom>
            <a:avLst/>
            <a:gdLst/>
            <a:ahLst/>
            <a:cxnLst/>
            <a:rect l="l" t="t" r="r" b="b"/>
            <a:pathLst>
              <a:path w="5334000" h="2381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2266950"/>
                </a:lnTo>
                <a:cubicBezTo>
                  <a:pt x="5334000" y="2330076"/>
                  <a:pt x="5282826" y="2381250"/>
                  <a:pt x="5219700" y="2381250"/>
                </a:cubicBezTo>
                <a:lnTo>
                  <a:pt x="114300" y="2381250"/>
                </a:lnTo>
                <a:cubicBezTo>
                  <a:pt x="51174" y="2381250"/>
                  <a:pt x="0" y="2330076"/>
                  <a:pt x="0" y="2266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0F4FF"/>
          </a:solidFill>
          <a:ln w="14288">
            <a:solidFill>
              <a:srgbClr val="C5D9F5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476250" y="1047750"/>
            <a:ext cx="5334000" cy="66675"/>
          </a:xfrm>
          <a:custGeom>
            <a:avLst/>
            <a:gdLst/>
            <a:ahLst/>
            <a:cxnLst/>
            <a:rect l="l" t="t" r="r" b="b"/>
            <a:pathLst>
              <a:path w="5334000" h="66675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38100"/>
                </a:lnTo>
                <a:cubicBezTo>
                  <a:pt x="5334000" y="53882"/>
                  <a:pt x="5321207" y="66675"/>
                  <a:pt x="5305425" y="66675"/>
                </a:cubicBezTo>
                <a:lnTo>
                  <a:pt x="28575" y="66675"/>
                </a:lnTo>
                <a:cubicBezTo>
                  <a:pt x="12793" y="66675"/>
                  <a:pt x="0" y="53882"/>
                  <a:pt x="0" y="381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762000" y="131445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97" y="0"/>
                  <a:pt x="762000" y="59703"/>
                  <a:pt x="762000" y="133350"/>
                </a:cubicBezTo>
                <a:lnTo>
                  <a:pt x="762000" y="133350"/>
                </a:lnTo>
                <a:cubicBezTo>
                  <a:pt x="762000" y="206997"/>
                  <a:pt x="702297" y="266700"/>
                  <a:pt x="628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55535" y="13982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风险说明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175260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95250" y="0"/>
                </a:moveTo>
                <a:lnTo>
                  <a:pt x="400050" y="0"/>
                </a:lnTo>
                <a:cubicBezTo>
                  <a:pt x="452655" y="0"/>
                  <a:pt x="495300" y="42645"/>
                  <a:pt x="495300" y="95250"/>
                </a:cubicBezTo>
                <a:lnTo>
                  <a:pt x="495300" y="400050"/>
                </a:lnTo>
                <a:cubicBezTo>
                  <a:pt x="495300" y="452655"/>
                  <a:pt x="452655" y="495300"/>
                  <a:pt x="4000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4674" y="1868805"/>
            <a:ext cx="14995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558" y="1814989"/>
            <a:ext cx="19876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管理登录页暴露于公网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6368" y="2066449"/>
            <a:ext cx="40404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7BB5"/>
                </a:solidFill>
                <a:latin typeface="Arial"/>
                <a:ea typeface="Microsoft YaHei"/>
                <a:cs typeface="Arial"/>
              </a:rPr>
              <a:t>/cmsLogin 后台管理登录路径直接暴露，存在被扫描和攻击风险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2476500"/>
            <a:ext cx="2095500" cy="266700"/>
          </a:xfrm>
          <a:custGeom>
            <a:avLst/>
            <a:gdLst/>
            <a:ahLst/>
            <a:cxnLst/>
            <a:rect l="l" t="t" r="r" b="b"/>
            <a:pathLst>
              <a:path w="2095500" h="266700">
                <a:moveTo>
                  <a:pt x="57150" y="0"/>
                </a:moveTo>
                <a:lnTo>
                  <a:pt x="2038350" y="0"/>
                </a:lnTo>
                <a:cubicBezTo>
                  <a:pt x="2069913" y="0"/>
                  <a:pt x="2095500" y="25587"/>
                  <a:pt x="2095500" y="57150"/>
                </a:cubicBezTo>
                <a:lnTo>
                  <a:pt x="2095500" y="209550"/>
                </a:lnTo>
                <a:cubicBezTo>
                  <a:pt x="2095500" y="241113"/>
                  <a:pt x="2069913" y="266700"/>
                  <a:pt x="20383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E5AA8">
              <a:alpha val="10000"/>
            </a:srgbClr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800100" y="2514600"/>
            <a:ext cx="2019300" cy="190500"/>
          </a:xfrm>
          <a:custGeom>
            <a:avLst/>
            <a:gdLst/>
            <a:ahLst/>
            <a:cxnLst/>
            <a:rect l="l" t="t" r="r" b="b"/>
            <a:pathLst>
              <a:path w="2019300" h="190500">
                <a:moveTo>
                  <a:pt x="38100" y="0"/>
                </a:moveTo>
                <a:lnTo>
                  <a:pt x="1981200" y="0"/>
                </a:lnTo>
                <a:cubicBezTo>
                  <a:pt x="2002242" y="0"/>
                  <a:pt x="2019300" y="17058"/>
                  <a:pt x="2019300" y="38100"/>
                </a:cubicBezTo>
                <a:lnTo>
                  <a:pt x="2019300" y="152400"/>
                </a:lnTo>
                <a:cubicBezTo>
                  <a:pt x="2019300" y="173442"/>
                  <a:pt x="2002242" y="190500"/>
                  <a:pt x="198120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E5AA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84018" y="2560320"/>
            <a:ext cx="16514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E5AA8"/>
                </a:solidFill>
                <a:latin typeface="Consolas"/>
                <a:ea typeface="Microsoft YaHei"/>
                <a:cs typeface="Consolas"/>
              </a:rPr>
              <a:t>/cmsLogin?redirect=%2F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570" y="2931795"/>
            <a:ext cx="29146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8FC0"/>
                </a:solidFill>
                <a:latin typeface="Arial"/>
                <a:ea typeface="Microsoft YaHei"/>
                <a:cs typeface="Arial"/>
              </a:rPr>
              <a:t>攻击者可利用该路径直接访问后台管理登录页面，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312229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8FC0"/>
                </a:solidFill>
                <a:latin typeface="Arial"/>
                <a:ea typeface="Microsoft YaHei"/>
                <a:cs typeface="Arial"/>
              </a:rPr>
              <a:t>通过弱口令或社工手段获取管理权限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" y="3390900"/>
            <a:ext cx="647700" cy="228600"/>
          </a:xfrm>
          <a:custGeom>
            <a:avLst/>
            <a:gdLst/>
            <a:ahLst/>
            <a:cxnLst/>
            <a:rect l="l" t="t" r="r" b="b"/>
            <a:pathLst>
              <a:path w="647700" h="228600">
                <a:moveTo>
                  <a:pt x="114300" y="0"/>
                </a:moveTo>
                <a:lnTo>
                  <a:pt x="533400" y="0"/>
                </a:lnTo>
                <a:cubicBezTo>
                  <a:pt x="596526" y="0"/>
                  <a:pt x="647700" y="51174"/>
                  <a:pt x="647700" y="114300"/>
                </a:cubicBezTo>
                <a:lnTo>
                  <a:pt x="647700" y="114300"/>
                </a:lnTo>
                <a:cubicBezTo>
                  <a:pt x="647700" y="177426"/>
                  <a:pt x="596526" y="228600"/>
                  <a:pt x="5334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03803" y="3462338"/>
            <a:ext cx="3640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高风险</a:t>
            </a:r>
          </a:p>
        </p:txBody>
      </p:sp>
      <p:sp>
        <p:nvSpPr>
          <p:cNvPr id="24" name="Freeform 24"/>
          <p:cNvSpPr/>
          <p:nvPr/>
        </p:nvSpPr>
        <p:spPr>
          <a:xfrm>
            <a:off x="6000750" y="1047750"/>
            <a:ext cx="5715000" cy="5334000"/>
          </a:xfrm>
          <a:custGeom>
            <a:avLst/>
            <a:gdLst/>
            <a:ahLst/>
            <a:cxnLst/>
            <a:rect l="l" t="t" r="r" b="b"/>
            <a:pathLst>
              <a:path w="5715000" h="5334000">
                <a:moveTo>
                  <a:pt x="114300" y="0"/>
                </a:moveTo>
                <a:lnTo>
                  <a:pt x="5600700" y="0"/>
                </a:lnTo>
                <a:cubicBezTo>
                  <a:pt x="5663826" y="0"/>
                  <a:pt x="5715000" y="51174"/>
                  <a:pt x="5715000" y="114300"/>
                </a:cubicBezTo>
                <a:lnTo>
                  <a:pt x="5715000" y="5219700"/>
                </a:lnTo>
                <a:cubicBezTo>
                  <a:pt x="5715000" y="5282826"/>
                  <a:pt x="5663826" y="5334000"/>
                  <a:pt x="5600700" y="5334000"/>
                </a:cubicBezTo>
                <a:lnTo>
                  <a:pt x="114300" y="5334000"/>
                </a:lnTo>
                <a:cubicBezTo>
                  <a:pt x="51174" y="5334000"/>
                  <a:pt x="0" y="5282826"/>
                  <a:pt x="0" y="521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0FDF4"/>
          </a:solidFill>
          <a:ln w="14288">
            <a:solidFill>
              <a:srgbClr val="BBF7D0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6000750" y="1047750"/>
            <a:ext cx="5715000" cy="66675"/>
          </a:xfrm>
          <a:custGeom>
            <a:avLst/>
            <a:gdLst/>
            <a:ahLst/>
            <a:cxnLst/>
            <a:rect l="l" t="t" r="r" b="b"/>
            <a:pathLst>
              <a:path w="5715000" h="66675">
                <a:moveTo>
                  <a:pt x="28575" y="0"/>
                </a:moveTo>
                <a:lnTo>
                  <a:pt x="5686425" y="0"/>
                </a:lnTo>
                <a:cubicBezTo>
                  <a:pt x="5702207" y="0"/>
                  <a:pt x="5715000" y="12793"/>
                  <a:pt x="5715000" y="28575"/>
                </a:cubicBezTo>
                <a:lnTo>
                  <a:pt x="5715000" y="38100"/>
                </a:lnTo>
                <a:cubicBezTo>
                  <a:pt x="5715000" y="53882"/>
                  <a:pt x="5702207" y="66675"/>
                  <a:pt x="5686425" y="66675"/>
                </a:cubicBezTo>
                <a:lnTo>
                  <a:pt x="28575" y="66675"/>
                </a:lnTo>
                <a:cubicBezTo>
                  <a:pt x="12793" y="66675"/>
                  <a:pt x="0" y="53882"/>
                  <a:pt x="0" y="381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6286500" y="131445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97" y="0"/>
                  <a:pt x="762000" y="59703"/>
                  <a:pt x="762000" y="133350"/>
                </a:cubicBezTo>
                <a:lnTo>
                  <a:pt x="762000" y="133350"/>
                </a:lnTo>
                <a:cubicBezTo>
                  <a:pt x="762000" y="206997"/>
                  <a:pt x="702297" y="266700"/>
                  <a:pt x="628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380035" y="13982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28" name="Freeform 28"/>
          <p:cNvSpPr/>
          <p:nvPr/>
        </p:nvSpPr>
        <p:spPr>
          <a:xfrm>
            <a:off x="6286500" y="175260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95250" y="0"/>
                </a:moveTo>
                <a:lnTo>
                  <a:pt x="400050" y="0"/>
                </a:lnTo>
                <a:cubicBezTo>
                  <a:pt x="452655" y="0"/>
                  <a:pt x="495300" y="42645"/>
                  <a:pt x="495300" y="95250"/>
                </a:cubicBezTo>
                <a:lnTo>
                  <a:pt x="495300" y="400050"/>
                </a:lnTo>
                <a:cubicBezTo>
                  <a:pt x="495300" y="452655"/>
                  <a:pt x="452655" y="495300"/>
                  <a:pt x="4000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427150" y="1884998"/>
            <a:ext cx="21400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38010" y="1823085"/>
            <a:ext cx="1686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4532D"/>
                </a:solidFill>
                <a:latin typeface="Arial"/>
                <a:ea typeface="Microsoft YaHei"/>
                <a:cs typeface="Arial"/>
              </a:rPr>
              <a:t>分阶段消除公网暴露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40868" y="20664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从临时止血到长期治本，层层递进</a:t>
            </a:r>
          </a:p>
        </p:txBody>
      </p:sp>
      <p:sp>
        <p:nvSpPr>
          <p:cNvPr id="32" name="Freeform 32"/>
          <p:cNvSpPr/>
          <p:nvPr/>
        </p:nvSpPr>
        <p:spPr>
          <a:xfrm>
            <a:off x="6286500" y="24955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066800"/>
                </a:lnTo>
                <a:cubicBezTo>
                  <a:pt x="5238750" y="1108884"/>
                  <a:pt x="5204634" y="1143000"/>
                  <a:pt x="51625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6286500" y="2495550"/>
            <a:ext cx="47625" cy="1143000"/>
          </a:xfrm>
          <a:custGeom>
            <a:avLst/>
            <a:gdLst/>
            <a:ahLst/>
            <a:cxnLst/>
            <a:rect l="l" t="t" r="r" b="b"/>
            <a:pathLst>
              <a:path w="47625" h="11430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123950"/>
                </a:lnTo>
                <a:cubicBezTo>
                  <a:pt x="47625" y="1134471"/>
                  <a:pt x="39096" y="1143000"/>
                  <a:pt x="28575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6477000" y="266700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0" y="0"/>
                </a:moveTo>
                <a:lnTo>
                  <a:pt x="571500" y="0"/>
                </a:lnTo>
                <a:cubicBezTo>
                  <a:pt x="592542" y="0"/>
                  <a:pt x="609600" y="17058"/>
                  <a:pt x="609600" y="38100"/>
                </a:cubicBezTo>
                <a:lnTo>
                  <a:pt x="609600" y="190500"/>
                </a:lnTo>
                <a:cubicBezTo>
                  <a:pt x="609600" y="211542"/>
                  <a:pt x="592542" y="228600"/>
                  <a:pt x="57150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644807" y="27398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临时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188518" y="2723674"/>
            <a:ext cx="1990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C2A1C"/>
                </a:solidFill>
                <a:latin typeface="Arial"/>
                <a:ea typeface="Microsoft YaHei"/>
                <a:cs typeface="Arial"/>
              </a:rPr>
              <a:t>后台路径随机化 + 强制强认证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65570" y="2998470"/>
            <a:ext cx="34141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将 /cmsLogin 路径改为随机化路径（如 /admin-a7x2），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65570" y="317944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降低被自动化扫描工具发现的概率</a:t>
            </a:r>
          </a:p>
        </p:txBody>
      </p:sp>
      <p:sp>
        <p:nvSpPr>
          <p:cNvPr id="39" name="Freeform 39"/>
          <p:cNvSpPr/>
          <p:nvPr/>
        </p:nvSpPr>
        <p:spPr>
          <a:xfrm>
            <a:off x="6286500" y="37528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066800"/>
                </a:lnTo>
                <a:cubicBezTo>
                  <a:pt x="5238750" y="1108884"/>
                  <a:pt x="5204634" y="1143000"/>
                  <a:pt x="51625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40" name="Freeform 40"/>
          <p:cNvSpPr/>
          <p:nvPr/>
        </p:nvSpPr>
        <p:spPr>
          <a:xfrm>
            <a:off x="6286500" y="3752850"/>
            <a:ext cx="47625" cy="1143000"/>
          </a:xfrm>
          <a:custGeom>
            <a:avLst/>
            <a:gdLst/>
            <a:ahLst/>
            <a:cxnLst/>
            <a:rect l="l" t="t" r="r" b="b"/>
            <a:pathLst>
              <a:path w="47625" h="11430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123950"/>
                </a:lnTo>
                <a:cubicBezTo>
                  <a:pt x="47625" y="1134471"/>
                  <a:pt x="39096" y="1143000"/>
                  <a:pt x="28575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6477000" y="392430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0" y="0"/>
                </a:moveTo>
                <a:lnTo>
                  <a:pt x="571500" y="0"/>
                </a:lnTo>
                <a:cubicBezTo>
                  <a:pt x="592542" y="0"/>
                  <a:pt x="609600" y="17058"/>
                  <a:pt x="609600" y="38100"/>
                </a:cubicBezTo>
                <a:lnTo>
                  <a:pt x="609600" y="190500"/>
                </a:lnTo>
                <a:cubicBezTo>
                  <a:pt x="609600" y="211542"/>
                  <a:pt x="592542" y="228600"/>
                  <a:pt x="57150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644807" y="39971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中期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188518" y="3980974"/>
            <a:ext cx="1617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C2A1C"/>
                </a:solidFill>
                <a:latin typeface="Arial"/>
                <a:ea typeface="Microsoft YaHei"/>
                <a:cs typeface="Arial"/>
              </a:rPr>
              <a:t>接入双因素认证（2FA）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65570" y="4255770"/>
            <a:ext cx="29475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所有管理后台账户强制启用短信或邮箱 2FA 验证，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65570" y="443674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即使密码泄露也能防止账户被接管</a:t>
            </a:r>
          </a:p>
        </p:txBody>
      </p:sp>
      <p:sp>
        <p:nvSpPr>
          <p:cNvPr id="46" name="Freeform 46"/>
          <p:cNvSpPr/>
          <p:nvPr/>
        </p:nvSpPr>
        <p:spPr>
          <a:xfrm>
            <a:off x="6286500" y="5010150"/>
            <a:ext cx="5238750" cy="1143000"/>
          </a:xfrm>
          <a:custGeom>
            <a:avLst/>
            <a:gdLst/>
            <a:ahLst/>
            <a:cxnLst/>
            <a:rect l="l" t="t" r="r" b="b"/>
            <a:pathLst>
              <a:path w="5238750" h="1143000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066800"/>
                </a:lnTo>
                <a:cubicBezTo>
                  <a:pt x="5238750" y="1108884"/>
                  <a:pt x="5204634" y="1143000"/>
                  <a:pt x="51625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47" name="Freeform 47"/>
          <p:cNvSpPr/>
          <p:nvPr/>
        </p:nvSpPr>
        <p:spPr>
          <a:xfrm>
            <a:off x="6286500" y="5010150"/>
            <a:ext cx="47625" cy="1143000"/>
          </a:xfrm>
          <a:custGeom>
            <a:avLst/>
            <a:gdLst/>
            <a:ahLst/>
            <a:cxnLst/>
            <a:rect l="l" t="t" r="r" b="b"/>
            <a:pathLst>
              <a:path w="47625" h="11430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1123950"/>
                </a:lnTo>
                <a:cubicBezTo>
                  <a:pt x="47625" y="1134471"/>
                  <a:pt x="39096" y="1143000"/>
                  <a:pt x="28575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6477000" y="518160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0" y="0"/>
                </a:moveTo>
                <a:lnTo>
                  <a:pt x="571500" y="0"/>
                </a:lnTo>
                <a:cubicBezTo>
                  <a:pt x="592542" y="0"/>
                  <a:pt x="609600" y="17058"/>
                  <a:pt x="609600" y="38100"/>
                </a:cubicBezTo>
                <a:lnTo>
                  <a:pt x="609600" y="190500"/>
                </a:lnTo>
                <a:cubicBezTo>
                  <a:pt x="609600" y="211542"/>
                  <a:pt x="592542" y="228600"/>
                  <a:pt x="57150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644807" y="52544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长期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188518" y="5238274"/>
            <a:ext cx="22600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C2A1C"/>
                </a:solidFill>
                <a:latin typeface="Arial"/>
                <a:ea typeface="Microsoft YaHei"/>
                <a:cs typeface="Arial"/>
              </a:rPr>
              <a:t>VPN 内网访问，移除公网登录入口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465570" y="5513070"/>
            <a:ext cx="27766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VPN 打通后，将后台登录页面从公网完全移除，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465570" y="5694045"/>
            <a:ext cx="18959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仅允许通过 VPN 隧道从内网访问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949970" y="6578441"/>
            <a:ext cx="2920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A0BDD8"/>
                </a:solidFill>
                <a:latin typeface="Arial"/>
                <a:ea typeface="Microsoft YaHei"/>
                <a:cs typeface="Arial"/>
              </a:rPr>
              <a:t>5 / 6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47625" cy="6819900"/>
          </a:xfrm>
          <a:prstGeom prst="rect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38100"/>
            <a:ext cx="12192000" cy="723900"/>
          </a:xfrm>
          <a:prstGeom prst="rect">
            <a:avLst/>
          </a:prstGeom>
          <a:solidFill>
            <a:srgbClr val="F4F8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76250" y="476250"/>
            <a:ext cx="47625" cy="228600"/>
          </a:xfrm>
          <a:custGeom>
            <a:avLst/>
            <a:gdLst/>
            <a:ahLst/>
            <a:cxnLst/>
            <a:rect l="l" t="t" r="r" b="b"/>
            <a:pathLst>
              <a:path w="47625" h="22860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209550"/>
                </a:lnTo>
                <a:cubicBezTo>
                  <a:pt x="47625" y="220071"/>
                  <a:pt x="39096" y="228600"/>
                  <a:pt x="28575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21030" y="4591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治本方案</a:t>
            </a:r>
          </a:p>
        </p:txBody>
      </p:sp>
      <p:sp>
        <p:nvSpPr>
          <p:cNvPr id="8" name="Freeform 8"/>
          <p:cNvSpPr/>
          <p:nvPr/>
        </p:nvSpPr>
        <p:spPr>
          <a:xfrm>
            <a:off x="476250" y="952500"/>
            <a:ext cx="5143500" cy="1905000"/>
          </a:xfrm>
          <a:custGeom>
            <a:avLst/>
            <a:gdLst/>
            <a:ahLst/>
            <a:cxnLst/>
            <a:rect l="l" t="t" r="r" b="b"/>
            <a:pathLst>
              <a:path w="5143500" h="19050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790700"/>
                </a:lnTo>
                <a:cubicBezTo>
                  <a:pt x="5143500" y="1853826"/>
                  <a:pt x="5092326" y="1905000"/>
                  <a:pt x="5029200" y="1905000"/>
                </a:cubicBezTo>
                <a:lnTo>
                  <a:pt x="114300" y="1905000"/>
                </a:lnTo>
                <a:cubicBezTo>
                  <a:pt x="51174" y="1905000"/>
                  <a:pt x="0" y="1853826"/>
                  <a:pt x="0" y="1790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0F4FF"/>
          </a:solidFill>
          <a:ln w="14288">
            <a:solidFill>
              <a:srgbClr val="C5D9F5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476250" y="952500"/>
            <a:ext cx="5143500" cy="66675"/>
          </a:xfrm>
          <a:custGeom>
            <a:avLst/>
            <a:gdLst/>
            <a:ahLst/>
            <a:cxnLst/>
            <a:rect l="l" t="t" r="r" b="b"/>
            <a:pathLst>
              <a:path w="5143500" h="66675">
                <a:moveTo>
                  <a:pt x="28575" y="0"/>
                </a:moveTo>
                <a:lnTo>
                  <a:pt x="5114925" y="0"/>
                </a:lnTo>
                <a:cubicBezTo>
                  <a:pt x="5130707" y="0"/>
                  <a:pt x="5143500" y="12793"/>
                  <a:pt x="5143500" y="28575"/>
                </a:cubicBezTo>
                <a:lnTo>
                  <a:pt x="5143500" y="38100"/>
                </a:lnTo>
                <a:cubicBezTo>
                  <a:pt x="5143500" y="53882"/>
                  <a:pt x="5130707" y="66675"/>
                  <a:pt x="5114925" y="66675"/>
                </a:cubicBezTo>
                <a:lnTo>
                  <a:pt x="28575" y="66675"/>
                </a:lnTo>
                <a:cubicBezTo>
                  <a:pt x="12793" y="66675"/>
                  <a:pt x="0" y="53882"/>
                  <a:pt x="0" y="381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762000" y="1219200"/>
            <a:ext cx="914400" cy="266700"/>
          </a:xfrm>
          <a:custGeom>
            <a:avLst/>
            <a:gdLst/>
            <a:ahLst/>
            <a:cxnLst/>
            <a:rect l="l" t="t" r="r" b="b"/>
            <a:pathLst>
              <a:path w="914400" h="266700">
                <a:moveTo>
                  <a:pt x="133350" y="0"/>
                </a:moveTo>
                <a:lnTo>
                  <a:pt x="781050" y="0"/>
                </a:lnTo>
                <a:cubicBezTo>
                  <a:pt x="854697" y="0"/>
                  <a:pt x="914400" y="59703"/>
                  <a:pt x="914400" y="133350"/>
                </a:cubicBezTo>
                <a:lnTo>
                  <a:pt x="914400" y="133350"/>
                </a:lnTo>
                <a:cubicBezTo>
                  <a:pt x="914400" y="206997"/>
                  <a:pt x="854697" y="266700"/>
                  <a:pt x="7810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E5AA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31735" y="130302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根本原因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2000" y="165735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95250" y="0"/>
                </a:moveTo>
                <a:lnTo>
                  <a:pt x="400050" y="0"/>
                </a:lnTo>
                <a:cubicBezTo>
                  <a:pt x="452655" y="0"/>
                  <a:pt x="495300" y="42645"/>
                  <a:pt x="495300" y="95250"/>
                </a:cubicBezTo>
                <a:lnTo>
                  <a:pt x="495300" y="400050"/>
                </a:lnTo>
                <a:cubicBezTo>
                  <a:pt x="495300" y="452655"/>
                  <a:pt x="452655" y="495300"/>
                  <a:pt x="4000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4674" y="1773555"/>
            <a:ext cx="14995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4462" y="1735931"/>
            <a:ext cx="26163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F2D5E"/>
                </a:solidFill>
                <a:latin typeface="Arial"/>
                <a:ea typeface="Microsoft YaHei"/>
                <a:cs typeface="Arial"/>
              </a:rPr>
              <a:t>管理端口与业务端口共用公网出口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6368" y="19711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7BB5"/>
                </a:solidFill>
                <a:latin typeface="Arial"/>
                <a:ea typeface="Microsoft YaHei"/>
                <a:cs typeface="Arial"/>
              </a:rPr>
              <a:t>缺乏分层防御架构</a:t>
            </a:r>
          </a:p>
        </p:txBody>
      </p:sp>
      <p:sp>
        <p:nvSpPr>
          <p:cNvPr id="16" name="Freeform 16"/>
          <p:cNvSpPr/>
          <p:nvPr/>
        </p:nvSpPr>
        <p:spPr>
          <a:xfrm>
            <a:off x="762000" y="2343150"/>
            <a:ext cx="4667250" cy="361950"/>
          </a:xfrm>
          <a:custGeom>
            <a:avLst/>
            <a:gdLst/>
            <a:ahLst/>
            <a:cxnLst/>
            <a:rect l="l" t="t" r="r" b="b"/>
            <a:pathLst>
              <a:path w="4667250" h="361950">
                <a:moveTo>
                  <a:pt x="57150" y="0"/>
                </a:moveTo>
                <a:lnTo>
                  <a:pt x="4610100" y="0"/>
                </a:lnTo>
                <a:cubicBezTo>
                  <a:pt x="4641663" y="0"/>
                  <a:pt x="4667250" y="25587"/>
                  <a:pt x="4667250" y="57150"/>
                </a:cubicBezTo>
                <a:lnTo>
                  <a:pt x="4667250" y="304800"/>
                </a:lnTo>
                <a:cubicBezTo>
                  <a:pt x="4667250" y="336363"/>
                  <a:pt x="4641663" y="361950"/>
                  <a:pt x="46101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5D9F5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904875" y="2476500"/>
            <a:ext cx="95250" cy="9525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93470" y="247459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D6FA0"/>
                </a:solidFill>
                <a:latin typeface="Arial"/>
                <a:ea typeface="Microsoft YaHei"/>
                <a:cs typeface="Arial"/>
              </a:rPr>
              <a:t>管理端口与用户业务端口共用同一公网出口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" y="2762250"/>
            <a:ext cx="4667250" cy="361950"/>
          </a:xfrm>
          <a:custGeom>
            <a:avLst/>
            <a:gdLst/>
            <a:ahLst/>
            <a:cxnLst/>
            <a:rect l="l" t="t" r="r" b="b"/>
            <a:pathLst>
              <a:path w="4667250" h="361950">
                <a:moveTo>
                  <a:pt x="57150" y="0"/>
                </a:moveTo>
                <a:lnTo>
                  <a:pt x="4610100" y="0"/>
                </a:lnTo>
                <a:cubicBezTo>
                  <a:pt x="4641663" y="0"/>
                  <a:pt x="4667250" y="25587"/>
                  <a:pt x="4667250" y="57150"/>
                </a:cubicBezTo>
                <a:lnTo>
                  <a:pt x="4667250" y="304800"/>
                </a:lnTo>
                <a:cubicBezTo>
                  <a:pt x="4667250" y="336363"/>
                  <a:pt x="4641663" y="361950"/>
                  <a:pt x="46101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5D9F5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904875" y="2895600"/>
            <a:ext cx="95250" cy="9525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3470" y="2893695"/>
            <a:ext cx="23888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D6FA0"/>
                </a:solidFill>
                <a:latin typeface="Arial"/>
                <a:ea typeface="Microsoft YaHei"/>
                <a:cs typeface="Arial"/>
              </a:rPr>
              <a:t>缺乏分层防御，管理后台未做网络层隔离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" y="3181350"/>
            <a:ext cx="4667250" cy="361950"/>
          </a:xfrm>
          <a:custGeom>
            <a:avLst/>
            <a:gdLst/>
            <a:ahLst/>
            <a:cxnLst/>
            <a:rect l="l" t="t" r="r" b="b"/>
            <a:pathLst>
              <a:path w="4667250" h="361950">
                <a:moveTo>
                  <a:pt x="57150" y="0"/>
                </a:moveTo>
                <a:lnTo>
                  <a:pt x="4610100" y="0"/>
                </a:lnTo>
                <a:cubicBezTo>
                  <a:pt x="4641663" y="0"/>
                  <a:pt x="4667250" y="25587"/>
                  <a:pt x="4667250" y="57150"/>
                </a:cubicBezTo>
                <a:lnTo>
                  <a:pt x="4667250" y="304800"/>
                </a:lnTo>
                <a:cubicBezTo>
                  <a:pt x="4667250" y="336363"/>
                  <a:pt x="4641663" y="361950"/>
                  <a:pt x="461010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5D9F5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904875" y="3314700"/>
            <a:ext cx="95250" cy="9525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93470" y="3312795"/>
            <a:ext cx="20536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D6FA0"/>
                </a:solidFill>
                <a:latin typeface="Arial"/>
                <a:ea typeface="Microsoft YaHei"/>
                <a:cs typeface="Arial"/>
              </a:rPr>
              <a:t>三个系统均面向互联网，无 IP 限制</a:t>
            </a:r>
          </a:p>
        </p:txBody>
      </p:sp>
      <p:sp>
        <p:nvSpPr>
          <p:cNvPr id="25" name="Freeform 25"/>
          <p:cNvSpPr/>
          <p:nvPr/>
        </p:nvSpPr>
        <p:spPr>
          <a:xfrm>
            <a:off x="5810250" y="952500"/>
            <a:ext cx="5905500" cy="5524500"/>
          </a:xfrm>
          <a:custGeom>
            <a:avLst/>
            <a:gdLst/>
            <a:ahLst/>
            <a:cxnLst/>
            <a:rect l="l" t="t" r="r" b="b"/>
            <a:pathLst>
              <a:path w="5905500" h="5524500">
                <a:moveTo>
                  <a:pt x="114300" y="0"/>
                </a:moveTo>
                <a:lnTo>
                  <a:pt x="5791200" y="0"/>
                </a:lnTo>
                <a:cubicBezTo>
                  <a:pt x="5854326" y="0"/>
                  <a:pt x="5905500" y="51174"/>
                  <a:pt x="5905500" y="114300"/>
                </a:cubicBezTo>
                <a:lnTo>
                  <a:pt x="5905500" y="5410200"/>
                </a:lnTo>
                <a:cubicBezTo>
                  <a:pt x="5905500" y="5473326"/>
                  <a:pt x="5854326" y="5524500"/>
                  <a:pt x="5791200" y="5524500"/>
                </a:cubicBezTo>
                <a:lnTo>
                  <a:pt x="114300" y="5524500"/>
                </a:lnTo>
                <a:cubicBezTo>
                  <a:pt x="51174" y="5524500"/>
                  <a:pt x="0" y="5473326"/>
                  <a:pt x="0" y="541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0FDF4"/>
          </a:solidFill>
          <a:ln w="14288">
            <a:solidFill>
              <a:srgbClr val="BBF7D0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5810250" y="952500"/>
            <a:ext cx="5905500" cy="66675"/>
          </a:xfrm>
          <a:custGeom>
            <a:avLst/>
            <a:gdLst/>
            <a:ahLst/>
            <a:cxnLst/>
            <a:rect l="l" t="t" r="r" b="b"/>
            <a:pathLst>
              <a:path w="5905500" h="66675">
                <a:moveTo>
                  <a:pt x="28575" y="0"/>
                </a:moveTo>
                <a:lnTo>
                  <a:pt x="5876925" y="0"/>
                </a:lnTo>
                <a:cubicBezTo>
                  <a:pt x="5892707" y="0"/>
                  <a:pt x="5905500" y="12793"/>
                  <a:pt x="5905500" y="28575"/>
                </a:cubicBezTo>
                <a:lnTo>
                  <a:pt x="5905500" y="38100"/>
                </a:lnTo>
                <a:cubicBezTo>
                  <a:pt x="5905500" y="53882"/>
                  <a:pt x="5892707" y="66675"/>
                  <a:pt x="5876925" y="66675"/>
                </a:cubicBezTo>
                <a:lnTo>
                  <a:pt x="28575" y="66675"/>
                </a:lnTo>
                <a:cubicBezTo>
                  <a:pt x="12793" y="66675"/>
                  <a:pt x="0" y="53882"/>
                  <a:pt x="0" y="381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6096000" y="1219200"/>
            <a:ext cx="914400" cy="266700"/>
          </a:xfrm>
          <a:custGeom>
            <a:avLst/>
            <a:gdLst/>
            <a:ahLst/>
            <a:cxnLst/>
            <a:rect l="l" t="t" r="r" b="b"/>
            <a:pathLst>
              <a:path w="914400" h="266700">
                <a:moveTo>
                  <a:pt x="133350" y="0"/>
                </a:moveTo>
                <a:lnTo>
                  <a:pt x="781050" y="0"/>
                </a:lnTo>
                <a:cubicBezTo>
                  <a:pt x="854697" y="0"/>
                  <a:pt x="914400" y="59703"/>
                  <a:pt x="914400" y="133350"/>
                </a:cubicBezTo>
                <a:lnTo>
                  <a:pt x="914400" y="133350"/>
                </a:lnTo>
                <a:cubicBezTo>
                  <a:pt x="914400" y="206997"/>
                  <a:pt x="854697" y="266700"/>
                  <a:pt x="7810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265735" y="130302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核心方案</a:t>
            </a:r>
          </a:p>
        </p:txBody>
      </p:sp>
      <p:sp>
        <p:nvSpPr>
          <p:cNvPr id="29" name="Freeform 29"/>
          <p:cNvSpPr/>
          <p:nvPr/>
        </p:nvSpPr>
        <p:spPr>
          <a:xfrm>
            <a:off x="6096000" y="165735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95250" y="0"/>
                </a:moveTo>
                <a:lnTo>
                  <a:pt x="400050" y="0"/>
                </a:lnTo>
                <a:cubicBezTo>
                  <a:pt x="452655" y="0"/>
                  <a:pt x="495300" y="42645"/>
                  <a:pt x="495300" y="95250"/>
                </a:cubicBezTo>
                <a:lnTo>
                  <a:pt x="495300" y="400050"/>
                </a:lnTo>
                <a:cubicBezTo>
                  <a:pt x="495300" y="452655"/>
                  <a:pt x="452655" y="495300"/>
                  <a:pt x="400050" y="495300"/>
                </a:cubicBezTo>
                <a:lnTo>
                  <a:pt x="95250" y="495300"/>
                </a:lnTo>
                <a:cubicBezTo>
                  <a:pt x="42645" y="495300"/>
                  <a:pt x="0" y="452655"/>
                  <a:pt x="0" y="4000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6172200" y="1762125"/>
            <a:ext cx="133350" cy="85725"/>
          </a:xfrm>
          <a:custGeom>
            <a:avLst/>
            <a:gdLst/>
            <a:ahLst/>
            <a:cxnLst/>
            <a:rect l="l" t="t" r="r" b="b"/>
            <a:pathLst>
              <a:path w="133350" h="85725">
                <a:moveTo>
                  <a:pt x="19050" y="0"/>
                </a:move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66675"/>
                </a:lnTo>
                <a:cubicBezTo>
                  <a:pt x="133350" y="77196"/>
                  <a:pt x="124821" y="85725"/>
                  <a:pt x="114300" y="85725"/>
                </a:cubicBezTo>
                <a:lnTo>
                  <a:pt x="19050" y="85725"/>
                </a:lnTo>
                <a:cubicBezTo>
                  <a:pt x="8529" y="85725"/>
                  <a:pt x="0" y="77196"/>
                  <a:pt x="0" y="666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6381750" y="1762125"/>
            <a:ext cx="133350" cy="85725"/>
          </a:xfrm>
          <a:custGeom>
            <a:avLst/>
            <a:gdLst/>
            <a:ahLst/>
            <a:cxnLst/>
            <a:rect l="l" t="t" r="r" b="b"/>
            <a:pathLst>
              <a:path w="133350" h="85725">
                <a:moveTo>
                  <a:pt x="19050" y="0"/>
                </a:move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66675"/>
                </a:lnTo>
                <a:cubicBezTo>
                  <a:pt x="133350" y="77196"/>
                  <a:pt x="124821" y="85725"/>
                  <a:pt x="114300" y="85725"/>
                </a:cubicBezTo>
                <a:lnTo>
                  <a:pt x="19050" y="85725"/>
                </a:lnTo>
                <a:cubicBezTo>
                  <a:pt x="8529" y="85725"/>
                  <a:pt x="0" y="77196"/>
                  <a:pt x="0" y="666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32" name="Line 32"/>
          <p:cNvSpPr/>
          <p:nvPr/>
        </p:nvSpPr>
        <p:spPr>
          <a:xfrm>
            <a:off x="6305550" y="1800225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9050">
            <a:solidFill>
              <a:srgbClr val="16A34A"/>
            </a:solidFill>
          </a:ln>
        </p:spPr>
      </p:sp>
      <p:sp>
        <p:nvSpPr>
          <p:cNvPr id="33" name="Line 33"/>
          <p:cNvSpPr/>
          <p:nvPr/>
        </p:nvSpPr>
        <p:spPr>
          <a:xfrm>
            <a:off x="6172200" y="1847850"/>
            <a:ext cx="9525" cy="57150"/>
          </a:xfrm>
          <a:custGeom>
            <a:avLst/>
            <a:gdLst/>
            <a:ahLst/>
            <a:cxnLst/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9050">
            <a:solidFill>
              <a:srgbClr val="16A34A"/>
            </a:solidFill>
          </a:ln>
        </p:spPr>
      </p:sp>
      <p:sp>
        <p:nvSpPr>
          <p:cNvPr id="34" name="Line 34"/>
          <p:cNvSpPr/>
          <p:nvPr/>
        </p:nvSpPr>
        <p:spPr>
          <a:xfrm>
            <a:off x="6515100" y="1847850"/>
            <a:ext cx="9525" cy="57150"/>
          </a:xfrm>
          <a:custGeom>
            <a:avLst/>
            <a:gdLst/>
            <a:ahLst/>
            <a:cxnLst/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9050">
            <a:solidFill>
              <a:srgbClr val="16A34A"/>
            </a:solidFill>
          </a:ln>
        </p:spPr>
      </p:sp>
      <p:sp>
        <p:nvSpPr>
          <p:cNvPr id="35" name="Line 35"/>
          <p:cNvSpPr/>
          <p:nvPr/>
        </p:nvSpPr>
        <p:spPr>
          <a:xfrm>
            <a:off x="6172200" y="19050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9050">
            <a:solidFill>
              <a:srgbClr val="16A34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746558" y="1729264"/>
            <a:ext cx="245688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4532D"/>
                </a:solidFill>
                <a:latin typeface="Arial"/>
                <a:ea typeface="Microsoft YaHei"/>
                <a:cs typeface="Arial"/>
              </a:rPr>
              <a:t>华为云 ↔ 港华内网 VPN 打通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50368" y="1990249"/>
            <a:ext cx="28727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彻底解决公网暴露问题，构建零信任访问体系</a:t>
            </a:r>
          </a:p>
        </p:txBody>
      </p:sp>
      <p:sp>
        <p:nvSpPr>
          <p:cNvPr id="38" name="Freeform 38"/>
          <p:cNvSpPr/>
          <p:nvPr/>
        </p:nvSpPr>
        <p:spPr>
          <a:xfrm>
            <a:off x="6096000" y="2419350"/>
            <a:ext cx="5429250" cy="666750"/>
          </a:xfrm>
          <a:custGeom>
            <a:avLst/>
            <a:gdLst/>
            <a:ahLst/>
            <a:cxnLst/>
            <a:rect l="l" t="t" r="r" b="b"/>
            <a:pathLst>
              <a:path w="5429250" h="666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590550"/>
                </a:lnTo>
                <a:cubicBezTo>
                  <a:pt x="5429250" y="632634"/>
                  <a:pt x="5395134" y="666750"/>
                  <a:pt x="535305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6096000" y="2419350"/>
            <a:ext cx="47625" cy="666750"/>
          </a:xfrm>
          <a:custGeom>
            <a:avLst/>
            <a:gdLst/>
            <a:ahLst/>
            <a:cxnLst/>
            <a:rect l="l" t="t" r="r" b="b"/>
            <a:pathLst>
              <a:path w="47625" h="66675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647700"/>
                </a:lnTo>
                <a:cubicBezTo>
                  <a:pt x="47625" y="658221"/>
                  <a:pt x="39096" y="666750"/>
                  <a:pt x="28575" y="666750"/>
                </a:cubicBezTo>
                <a:lnTo>
                  <a:pt x="19050" y="666750"/>
                </a:lnTo>
                <a:cubicBezTo>
                  <a:pt x="8529" y="666750"/>
                  <a:pt x="0" y="658221"/>
                  <a:pt x="0" y="6477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6296025" y="2705100"/>
            <a:ext cx="95250" cy="9525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465570" y="2693670"/>
            <a:ext cx="19551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4532D"/>
                </a:solidFill>
                <a:latin typeface="Arial"/>
                <a:ea typeface="Microsoft YaHei"/>
                <a:cs typeface="Arial"/>
              </a:rPr>
              <a:t>关闭所有系统公网管理端口暴露</a:t>
            </a:r>
          </a:p>
        </p:txBody>
      </p:sp>
      <p:sp>
        <p:nvSpPr>
          <p:cNvPr id="42" name="Ellipse 42"/>
          <p:cNvSpPr/>
          <p:nvPr/>
        </p:nvSpPr>
        <p:spPr>
          <a:xfrm>
            <a:off x="6296025" y="2905125"/>
            <a:ext cx="95250" cy="9525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465570" y="2893695"/>
            <a:ext cx="2679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4532D"/>
                </a:solidFill>
                <a:latin typeface="Arial"/>
                <a:ea typeface="Microsoft YaHei"/>
                <a:cs typeface="Arial"/>
              </a:rPr>
              <a:t>保留公网业务访问，管理员统一走 VPN 隧道</a:t>
            </a:r>
          </a:p>
        </p:txBody>
      </p:sp>
      <p:sp>
        <p:nvSpPr>
          <p:cNvPr id="44" name="Freeform 44"/>
          <p:cNvSpPr/>
          <p:nvPr/>
        </p:nvSpPr>
        <p:spPr>
          <a:xfrm>
            <a:off x="6096000" y="3143250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400050"/>
                </a:lnTo>
                <a:cubicBezTo>
                  <a:pt x="5429250" y="442134"/>
                  <a:pt x="5395134" y="476250"/>
                  <a:pt x="535305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45" name="Freeform 45"/>
          <p:cNvSpPr/>
          <p:nvPr/>
        </p:nvSpPr>
        <p:spPr>
          <a:xfrm>
            <a:off x="6096000" y="3143250"/>
            <a:ext cx="47625" cy="476250"/>
          </a:xfrm>
          <a:custGeom>
            <a:avLst/>
            <a:gdLst/>
            <a:ahLst/>
            <a:cxnLst/>
            <a:rect l="l" t="t" r="r" b="b"/>
            <a:pathLst>
              <a:path w="47625" h="47625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457200"/>
                </a:lnTo>
                <a:cubicBezTo>
                  <a:pt x="47625" y="467721"/>
                  <a:pt x="39096" y="476250"/>
                  <a:pt x="28575" y="476250"/>
                </a:cubicBezTo>
                <a:lnTo>
                  <a:pt x="19050" y="476250"/>
                </a:lnTo>
                <a:cubicBezTo>
                  <a:pt x="8529" y="476250"/>
                  <a:pt x="0" y="467721"/>
                  <a:pt x="0" y="457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6296025" y="3333750"/>
            <a:ext cx="95250" cy="9525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465570" y="3322320"/>
            <a:ext cx="27072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4532D"/>
                </a:solidFill>
                <a:latin typeface="Arial"/>
                <a:ea typeface="Microsoft YaHei"/>
                <a:cs typeface="Arial"/>
              </a:rPr>
              <a:t>结合 MFA 多因素认证，构建零信任访问体系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083618" y="38952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4532D"/>
                </a:solidFill>
                <a:latin typeface="Arial"/>
                <a:ea typeface="Microsoft YaHei"/>
                <a:cs typeface="Arial"/>
              </a:rPr>
              <a:t>架构示意</a:t>
            </a:r>
          </a:p>
        </p:txBody>
      </p:sp>
      <p:sp>
        <p:nvSpPr>
          <p:cNvPr id="49" name="Freeform 49"/>
          <p:cNvSpPr/>
          <p:nvPr/>
        </p:nvSpPr>
        <p:spPr>
          <a:xfrm>
            <a:off x="6096000" y="4171950"/>
            <a:ext cx="2095500" cy="1143000"/>
          </a:xfrm>
          <a:custGeom>
            <a:avLst/>
            <a:gdLst/>
            <a:ahLst/>
            <a:cxnLst/>
            <a:rect l="l" t="t" r="r" b="b"/>
            <a:pathLst>
              <a:path w="2095500" h="114300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1047750"/>
                </a:lnTo>
                <a:cubicBezTo>
                  <a:pt x="2095500" y="1100355"/>
                  <a:pt x="2052855" y="1143000"/>
                  <a:pt x="20002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BF3FF"/>
          </a:solidFill>
          <a:ln w="14288">
            <a:solidFill>
              <a:srgbClr val="C5D9F5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907089" y="435244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华为云</a:t>
            </a:r>
          </a:p>
        </p:txBody>
      </p:sp>
      <p:sp>
        <p:nvSpPr>
          <p:cNvPr id="51" name="Freeform 51"/>
          <p:cNvSpPr/>
          <p:nvPr/>
        </p:nvSpPr>
        <p:spPr>
          <a:xfrm>
            <a:off x="6286500" y="4591050"/>
            <a:ext cx="1714500" cy="247650"/>
          </a:xfrm>
          <a:custGeom>
            <a:avLst/>
            <a:gdLst/>
            <a:ahLst/>
            <a:cxnLst/>
            <a:rect l="l" t="t" r="r" b="b"/>
            <a:pathLst>
              <a:path w="1714500" h="247650">
                <a:moveTo>
                  <a:pt x="47625" y="0"/>
                </a:moveTo>
                <a:lnTo>
                  <a:pt x="1666875" y="0"/>
                </a:lnTo>
                <a:cubicBezTo>
                  <a:pt x="1693178" y="0"/>
                  <a:pt x="1714500" y="21322"/>
                  <a:pt x="1714500" y="47625"/>
                </a:cubicBezTo>
                <a:lnTo>
                  <a:pt x="1714500" y="200025"/>
                </a:lnTo>
                <a:cubicBezTo>
                  <a:pt x="1714500" y="226328"/>
                  <a:pt x="1693178" y="247650"/>
                  <a:pt x="1666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E5AA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461534" y="4673441"/>
            <a:ext cx="13644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D6FA0"/>
                </a:solidFill>
                <a:latin typeface="Arial"/>
                <a:ea typeface="Microsoft YaHei"/>
                <a:cs typeface="Arial"/>
              </a:rPr>
              <a:t>三个系统 · 公网业务入口</a:t>
            </a:r>
          </a:p>
        </p:txBody>
      </p:sp>
      <p:sp>
        <p:nvSpPr>
          <p:cNvPr id="53" name="Freeform 53"/>
          <p:cNvSpPr/>
          <p:nvPr/>
        </p:nvSpPr>
        <p:spPr>
          <a:xfrm>
            <a:off x="6286500" y="4914900"/>
            <a:ext cx="1714500" cy="247650"/>
          </a:xfrm>
          <a:custGeom>
            <a:avLst/>
            <a:gdLst/>
            <a:ahLst/>
            <a:cxnLst/>
            <a:rect l="l" t="t" r="r" b="b"/>
            <a:pathLst>
              <a:path w="1714500" h="247650">
                <a:moveTo>
                  <a:pt x="47625" y="0"/>
                </a:moveTo>
                <a:lnTo>
                  <a:pt x="1666875" y="0"/>
                </a:lnTo>
                <a:cubicBezTo>
                  <a:pt x="1693178" y="0"/>
                  <a:pt x="1714500" y="21322"/>
                  <a:pt x="1714500" y="47625"/>
                </a:cubicBezTo>
                <a:lnTo>
                  <a:pt x="1714500" y="200025"/>
                </a:lnTo>
                <a:cubicBezTo>
                  <a:pt x="1714500" y="226328"/>
                  <a:pt x="1693178" y="247650"/>
                  <a:pt x="1666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570277" y="4997291"/>
            <a:ext cx="11469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3389 / 5985 / 5986</a:t>
            </a:r>
          </a:p>
        </p:txBody>
      </p:sp>
      <p:sp>
        <p:nvSpPr>
          <p:cNvPr id="55" name="Freeform 55"/>
          <p:cNvSpPr/>
          <p:nvPr/>
        </p:nvSpPr>
        <p:spPr>
          <a:xfrm>
            <a:off x="8286750" y="4495800"/>
            <a:ext cx="762000" cy="495300"/>
          </a:xfrm>
          <a:custGeom>
            <a:avLst/>
            <a:gdLst/>
            <a:ahLst/>
            <a:cxnLst/>
            <a:rect l="l" t="t" r="r" b="b"/>
            <a:pathLst>
              <a:path w="762000" h="495300">
                <a:moveTo>
                  <a:pt x="247650" y="0"/>
                </a:moveTo>
                <a:lnTo>
                  <a:pt x="514350" y="0"/>
                </a:lnTo>
                <a:cubicBezTo>
                  <a:pt x="651123" y="0"/>
                  <a:pt x="762000" y="110877"/>
                  <a:pt x="762000" y="247650"/>
                </a:cubicBezTo>
                <a:lnTo>
                  <a:pt x="762000" y="247650"/>
                </a:lnTo>
                <a:cubicBezTo>
                  <a:pt x="762000" y="384423"/>
                  <a:pt x="651123" y="495300"/>
                  <a:pt x="514350" y="495300"/>
                </a:cubicBezTo>
                <a:lnTo>
                  <a:pt x="247650" y="495300"/>
                </a:lnTo>
                <a:cubicBezTo>
                  <a:pt x="110877" y="495300"/>
                  <a:pt x="0" y="384423"/>
                  <a:pt x="0" y="2476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solidFill>
            <a:srgbClr val="FEF3C7"/>
          </a:solidFill>
          <a:ln w="14288">
            <a:solidFill>
              <a:srgbClr val="F59E0B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563338" y="4624388"/>
            <a:ext cx="208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VPN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462010" y="47848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加密隧道</a:t>
            </a:r>
          </a:p>
        </p:txBody>
      </p:sp>
      <p:sp>
        <p:nvSpPr>
          <p:cNvPr id="58" name="Line 58"/>
          <p:cNvSpPr/>
          <p:nvPr/>
        </p:nvSpPr>
        <p:spPr>
          <a:xfrm>
            <a:off x="8191500" y="4743450"/>
            <a:ext cx="95250" cy="9525"/>
          </a:xfrm>
          <a:custGeom>
            <a:avLst/>
            <a:gdLst/>
            <a:ahLst/>
            <a:cxnLst/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9050">
            <a:solidFill>
              <a:srgbClr val="9CA3AF"/>
            </a:solidFill>
          </a:ln>
        </p:spPr>
      </p:sp>
      <p:sp>
        <p:nvSpPr>
          <p:cNvPr id="59" name="Line 59"/>
          <p:cNvSpPr/>
          <p:nvPr/>
        </p:nvSpPr>
        <p:spPr>
          <a:xfrm>
            <a:off x="9048750" y="4743450"/>
            <a:ext cx="95250" cy="9525"/>
          </a:xfrm>
          <a:custGeom>
            <a:avLst/>
            <a:gdLst/>
            <a:ahLst/>
            <a:cxnLst/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9050">
            <a:solidFill>
              <a:srgbClr val="9CA3AF"/>
            </a:solidFill>
          </a:ln>
        </p:spPr>
      </p:sp>
      <p:sp>
        <p:nvSpPr>
          <p:cNvPr id="60" name="Line 60"/>
          <p:cNvSpPr/>
          <p:nvPr/>
        </p:nvSpPr>
        <p:spPr>
          <a:xfrm>
            <a:off x="9105900" y="47053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/>
          <a:ln w="19050">
            <a:solidFill>
              <a:srgbClr val="9CA3AF"/>
            </a:solidFill>
          </a:ln>
        </p:spPr>
      </p:sp>
      <p:sp>
        <p:nvSpPr>
          <p:cNvPr id="61" name="Line 61"/>
          <p:cNvSpPr/>
          <p:nvPr/>
        </p:nvSpPr>
        <p:spPr>
          <a:xfrm>
            <a:off x="9105900" y="47434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0" y="38100"/>
                </a:moveTo>
                <a:lnTo>
                  <a:pt x="38100" y="0"/>
                </a:lnTo>
              </a:path>
            </a:pathLst>
          </a:custGeom>
          <a:noFill/>
          <a:ln w="19050">
            <a:solidFill>
              <a:srgbClr val="9CA3AF"/>
            </a:solidFill>
          </a:ln>
        </p:spPr>
      </p:sp>
      <p:sp>
        <p:nvSpPr>
          <p:cNvPr id="62" name="Line 62"/>
          <p:cNvSpPr/>
          <p:nvPr/>
        </p:nvSpPr>
        <p:spPr>
          <a:xfrm>
            <a:off x="8248650" y="47053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0"/>
                </a:moveTo>
                <a:lnTo>
                  <a:pt x="0" y="38100"/>
                </a:lnTo>
              </a:path>
            </a:pathLst>
          </a:custGeom>
          <a:noFill/>
          <a:ln w="19050">
            <a:solidFill>
              <a:srgbClr val="9CA3AF"/>
            </a:solidFill>
          </a:ln>
        </p:spPr>
      </p:sp>
      <p:sp>
        <p:nvSpPr>
          <p:cNvPr id="63" name="Line 63"/>
          <p:cNvSpPr/>
          <p:nvPr/>
        </p:nvSpPr>
        <p:spPr>
          <a:xfrm>
            <a:off x="8248650" y="47434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CA3AF"/>
            </a:solidFill>
          </a:ln>
        </p:spPr>
      </p:sp>
      <p:sp>
        <p:nvSpPr>
          <p:cNvPr id="64" name="Freeform 64"/>
          <p:cNvSpPr/>
          <p:nvPr/>
        </p:nvSpPr>
        <p:spPr>
          <a:xfrm>
            <a:off x="9144000" y="4171950"/>
            <a:ext cx="2095500" cy="1143000"/>
          </a:xfrm>
          <a:custGeom>
            <a:avLst/>
            <a:gdLst/>
            <a:ahLst/>
            <a:cxnLst/>
            <a:rect l="l" t="t" r="r" b="b"/>
            <a:pathLst>
              <a:path w="2095500" h="114300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1047750"/>
                </a:lnTo>
                <a:cubicBezTo>
                  <a:pt x="2095500" y="1100355"/>
                  <a:pt x="2052855" y="1143000"/>
                  <a:pt x="20002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0FDF4"/>
          </a:solidFill>
          <a:ln w="14288">
            <a:solidFill>
              <a:srgbClr val="BBF7D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9880330" y="43524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港华内网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34500" y="4591050"/>
            <a:ext cx="1714500" cy="247650"/>
          </a:xfrm>
          <a:custGeom>
            <a:avLst/>
            <a:gdLst/>
            <a:ahLst/>
            <a:cxnLst/>
            <a:rect l="l" t="t" r="r" b="b"/>
            <a:pathLst>
              <a:path w="1714500" h="247650">
                <a:moveTo>
                  <a:pt x="47625" y="0"/>
                </a:moveTo>
                <a:lnTo>
                  <a:pt x="1666875" y="0"/>
                </a:lnTo>
                <a:cubicBezTo>
                  <a:pt x="1693178" y="0"/>
                  <a:pt x="1714500" y="21322"/>
                  <a:pt x="1714500" y="47625"/>
                </a:cubicBezTo>
                <a:lnTo>
                  <a:pt x="1714500" y="200025"/>
                </a:lnTo>
                <a:cubicBezTo>
                  <a:pt x="1714500" y="226328"/>
                  <a:pt x="1693178" y="247650"/>
                  <a:pt x="1666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6A34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572792" y="4673441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7A60"/>
                </a:solidFill>
                <a:latin typeface="Arial"/>
                <a:ea typeface="Microsoft YaHei"/>
                <a:cs typeface="Arial"/>
              </a:rPr>
              <a:t>管理员 · VPN 认证接入</a:t>
            </a:r>
          </a:p>
        </p:txBody>
      </p:sp>
      <p:sp>
        <p:nvSpPr>
          <p:cNvPr id="68" name="Freeform 68"/>
          <p:cNvSpPr/>
          <p:nvPr/>
        </p:nvSpPr>
        <p:spPr>
          <a:xfrm>
            <a:off x="9334500" y="4914900"/>
            <a:ext cx="1714500" cy="247650"/>
          </a:xfrm>
          <a:custGeom>
            <a:avLst/>
            <a:gdLst/>
            <a:ahLst/>
            <a:cxnLst/>
            <a:rect l="l" t="t" r="r" b="b"/>
            <a:pathLst>
              <a:path w="1714500" h="247650">
                <a:moveTo>
                  <a:pt x="47625" y="0"/>
                </a:moveTo>
                <a:lnTo>
                  <a:pt x="1666875" y="0"/>
                </a:lnTo>
                <a:cubicBezTo>
                  <a:pt x="1693178" y="0"/>
                  <a:pt x="1714500" y="21322"/>
                  <a:pt x="1714500" y="47625"/>
                </a:cubicBezTo>
                <a:lnTo>
                  <a:pt x="1714500" y="200025"/>
                </a:lnTo>
                <a:cubicBezTo>
                  <a:pt x="1714500" y="226328"/>
                  <a:pt x="1693178" y="247650"/>
                  <a:pt x="1666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9602463" y="4997291"/>
            <a:ext cx="1178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管理后台 · 内网访问</a:t>
            </a:r>
          </a:p>
        </p:txBody>
      </p:sp>
      <p:sp>
        <p:nvSpPr>
          <p:cNvPr id="70" name="Freeform 70"/>
          <p:cNvSpPr/>
          <p:nvPr/>
        </p:nvSpPr>
        <p:spPr>
          <a:xfrm>
            <a:off x="476250" y="5619750"/>
            <a:ext cx="11239500" cy="476250"/>
          </a:xfrm>
          <a:custGeom>
            <a:avLst/>
            <a:gdLst/>
            <a:ahLst/>
            <a:cxnLst/>
            <a:rect l="l" t="t" r="r" b="b"/>
            <a:pathLst>
              <a:path w="11239500" h="476250">
                <a:moveTo>
                  <a:pt x="76200" y="0"/>
                </a:moveTo>
                <a:lnTo>
                  <a:pt x="11163300" y="0"/>
                </a:lnTo>
                <a:cubicBezTo>
                  <a:pt x="11205384" y="0"/>
                  <a:pt x="11239500" y="34116"/>
                  <a:pt x="11239500" y="76200"/>
                </a:cubicBezTo>
                <a:lnTo>
                  <a:pt x="11239500" y="400050"/>
                </a:lnTo>
                <a:cubicBezTo>
                  <a:pt x="11239500" y="442134"/>
                  <a:pt x="11205384" y="476250"/>
                  <a:pt x="111633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3FF"/>
          </a:solidFill>
          <a:ln w="9525">
            <a:solidFill>
              <a:srgbClr val="C5D9F5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654368" y="5800249"/>
            <a:ext cx="44177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5AA8"/>
                </a:solidFill>
                <a:latin typeface="Arial"/>
                <a:ea typeface="Microsoft YaHei"/>
                <a:cs typeface="Arial"/>
              </a:rPr>
              <a:t>ℹ 请各方确认整改时间节点，我们将在各阶段完成后提供进度更新报告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949970" y="6578441"/>
            <a:ext cx="2920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A0BDD8"/>
                </a:solidFill>
                <a:latin typeface="Arial"/>
                <a:ea typeface="Microsoft YaHei"/>
                <a:cs typeface="Arial"/>
              </a:rPr>
              <a:t>6 / 6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